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7" r:id="rId2"/>
    <p:sldId id="259" r:id="rId3"/>
    <p:sldId id="262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6" r:id="rId36"/>
    <p:sldId id="307" r:id="rId3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818E0-AE55-4B17-B141-1EAF5159C01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32B8F-DAD6-483A-B221-BC21FFE12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38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41194" y="609676"/>
            <a:ext cx="677481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AF5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AF5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2567686"/>
            <a:ext cx="5307965" cy="405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1447" y="609676"/>
            <a:ext cx="311022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035" y="1706841"/>
            <a:ext cx="10361929" cy="4758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AF5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3904" y="309448"/>
            <a:ext cx="921766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Object</a:t>
            </a:r>
            <a:r>
              <a:rPr sz="6000" spc="-85" dirty="0"/>
              <a:t> </a:t>
            </a:r>
            <a:r>
              <a:rPr sz="6000" dirty="0"/>
              <a:t>Oriented</a:t>
            </a:r>
            <a:r>
              <a:rPr sz="6000" spc="-85" dirty="0"/>
              <a:t> </a:t>
            </a:r>
            <a:r>
              <a:rPr sz="6000" spc="-20" dirty="0"/>
              <a:t>Programming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2642997" y="3488577"/>
            <a:ext cx="6904990" cy="13758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0465" marR="1172210" algn="ctr">
              <a:lnSpc>
                <a:spcPct val="125000"/>
              </a:lnSpc>
              <a:spcBef>
                <a:spcPts val="95"/>
              </a:spcBef>
            </a:pPr>
            <a:r>
              <a:rPr lang="en-US" sz="2400" dirty="0">
                <a:latin typeface="Calibri"/>
                <a:cs typeface="Calibri"/>
              </a:rPr>
              <a:t>Nabeela Ashraf</a:t>
            </a:r>
          </a:p>
          <a:p>
            <a:pPr marL="1180465" marR="1172210" algn="ctr">
              <a:lnSpc>
                <a:spcPct val="125000"/>
              </a:lnSpc>
              <a:spcBef>
                <a:spcPts val="95"/>
              </a:spcBef>
            </a:pPr>
            <a:r>
              <a:rPr sz="2400" dirty="0">
                <a:latin typeface="Calibri"/>
                <a:cs typeface="Calibri"/>
              </a:rPr>
              <a:t>Department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Computer Science</a:t>
            </a:r>
            <a:endParaRPr sz="2400" dirty="0">
              <a:latin typeface="Calibri"/>
              <a:cs typeface="Calibri"/>
            </a:endParaRPr>
          </a:p>
          <a:p>
            <a:pPr marL="12700" marR="5080" algn="ctr">
              <a:lnSpc>
                <a:spcPct val="124600"/>
              </a:lnSpc>
              <a:spcBef>
                <a:spcPts val="5"/>
              </a:spcBef>
            </a:pPr>
            <a:r>
              <a:rPr lang="en-US" sz="2400" dirty="0">
                <a:latin typeface="Calibri"/>
                <a:cs typeface="Calibri"/>
              </a:rPr>
              <a:t>UAF,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Faisalabad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58104"/>
            <a:ext cx="2142743" cy="19713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3676650" cy="2072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Memory</a:t>
            </a:r>
            <a:r>
              <a:rPr sz="28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Addresses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Declaration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Dereferencing</a:t>
            </a:r>
            <a:r>
              <a:rPr sz="2800" spc="-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-1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Pointers</a:t>
            </a:r>
            <a:r>
              <a:rPr sz="2800" spc="-9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to</a:t>
            </a:r>
            <a:r>
              <a:rPr sz="2800" spc="-10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34645"/>
            <a:ext cx="3720465" cy="4132579"/>
          </a:xfrm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2270"/>
              </a:spcBef>
            </a:pPr>
            <a:r>
              <a:rPr sz="4400" dirty="0">
                <a:latin typeface="Calibri Light"/>
                <a:cs typeface="Calibri Light"/>
              </a:rPr>
              <a:t>C++</a:t>
            </a:r>
            <a:r>
              <a:rPr sz="4400" spc="-15" dirty="0">
                <a:latin typeface="Calibri Light"/>
                <a:cs typeface="Calibri Light"/>
              </a:rPr>
              <a:t> </a:t>
            </a:r>
            <a:r>
              <a:rPr sz="4400" dirty="0">
                <a:latin typeface="Calibri Light"/>
                <a:cs typeface="Calibri Light"/>
              </a:rPr>
              <a:t>:</a:t>
            </a:r>
            <a:r>
              <a:rPr sz="4400" spc="10" dirty="0">
                <a:latin typeface="Calibri Light"/>
                <a:cs typeface="Calibri Light"/>
              </a:rPr>
              <a:t> </a:t>
            </a:r>
            <a:r>
              <a:rPr sz="4400" spc="-10" dirty="0">
                <a:latin typeface="Calibri Light"/>
                <a:cs typeface="Calibri Light"/>
              </a:rPr>
              <a:t>Pointers</a:t>
            </a:r>
            <a:endParaRPr sz="4400">
              <a:latin typeface="Calibri Light"/>
              <a:cs typeface="Calibri Light"/>
            </a:endParaRPr>
          </a:p>
          <a:p>
            <a:pPr marL="240029" indent="-227329" algn="just">
              <a:lnSpc>
                <a:spcPct val="100000"/>
              </a:lnSpc>
              <a:spcBef>
                <a:spcPts val="13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Memory</a:t>
            </a:r>
            <a:r>
              <a:rPr sz="2800" b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Addresses</a:t>
            </a:r>
            <a:endParaRPr sz="2800">
              <a:latin typeface="Calibri"/>
              <a:cs typeface="Calibri"/>
            </a:endParaRPr>
          </a:p>
          <a:p>
            <a:pPr marL="12700" marR="5080" algn="just">
              <a:lnSpc>
                <a:spcPct val="90000"/>
              </a:lnSpc>
              <a:spcBef>
                <a:spcPts val="1010"/>
              </a:spcBef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5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800" spc="5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holds</a:t>
            </a:r>
            <a:r>
              <a:rPr sz="2800" spc="5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5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value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and</a:t>
            </a:r>
            <a:r>
              <a:rPr sz="2800" spc="59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that</a:t>
            </a:r>
            <a:r>
              <a:rPr sz="2800" spc="59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800" spc="58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is</a:t>
            </a:r>
            <a:r>
              <a:rPr sz="2800" spc="59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stored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at</a:t>
            </a:r>
            <a:r>
              <a:rPr sz="2800" spc="65" dirty="0">
                <a:solidFill>
                  <a:srgbClr val="160C5C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70" dirty="0">
                <a:solidFill>
                  <a:srgbClr val="160C5C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specific</a:t>
            </a:r>
            <a:r>
              <a:rPr sz="2800" spc="65" dirty="0">
                <a:solidFill>
                  <a:srgbClr val="160C5C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location</a:t>
            </a:r>
            <a:r>
              <a:rPr sz="2800" spc="65" dirty="0">
                <a:solidFill>
                  <a:srgbClr val="160C5C"/>
                </a:solidFill>
                <a:latin typeface="Calibri"/>
                <a:cs typeface="Calibri"/>
              </a:rPr>
              <a:t> 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in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memory.</a:t>
            </a:r>
            <a:endParaRPr sz="2800">
              <a:latin typeface="Calibri"/>
              <a:cs typeface="Calibri"/>
            </a:endParaRPr>
          </a:p>
          <a:p>
            <a:pPr marL="12700" marR="6985" algn="just">
              <a:lnSpc>
                <a:spcPts val="3020"/>
              </a:lnSpc>
              <a:spcBef>
                <a:spcPts val="1045"/>
              </a:spcBef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800" spc="29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memory</a:t>
            </a:r>
            <a:r>
              <a:rPr sz="2800" spc="29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assigned</a:t>
            </a:r>
            <a:r>
              <a:rPr sz="2800" spc="30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to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31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800" spc="28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has</a:t>
            </a:r>
            <a:r>
              <a:rPr sz="2800" spc="31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3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memory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4399915"/>
            <a:ext cx="37172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32255" algn="l"/>
                <a:tab pos="2487295" algn="l"/>
              </a:tabLst>
            </a:pP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address.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That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memory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783963"/>
            <a:ext cx="3714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68095" algn="l"/>
                <a:tab pos="1913255" algn="l"/>
                <a:tab pos="2413000" algn="l"/>
              </a:tabLst>
            </a:pP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address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can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be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accessed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5167706"/>
            <a:ext cx="3717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86510" algn="l"/>
                <a:tab pos="3454400" algn="l"/>
              </a:tabLst>
            </a:pP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using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00AFEF"/>
                </a:solidFill>
                <a:latin typeface="Calibri"/>
                <a:cs typeface="Calibri"/>
              </a:rPr>
              <a:t>ampersand</a:t>
            </a:r>
            <a:r>
              <a:rPr sz="2800" b="1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sz="2800" b="1" spc="-50" dirty="0">
                <a:solidFill>
                  <a:srgbClr val="00AFEF"/>
                </a:solidFill>
                <a:latin typeface="Calibri"/>
                <a:cs typeface="Calibri"/>
              </a:rPr>
              <a:t>&amp;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5552338"/>
            <a:ext cx="1341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operator.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9229" y="132445"/>
            <a:ext cx="3121660" cy="56470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9900"/>
              </a:lnSpc>
              <a:spcBef>
                <a:spcPts val="90"/>
              </a:spcBef>
            </a:pPr>
            <a:r>
              <a:rPr sz="2800" dirty="0">
                <a:solidFill>
                  <a:srgbClr val="00AF50"/>
                </a:solidFill>
                <a:latin typeface="Calibri"/>
                <a:cs typeface="Calibri"/>
              </a:rPr>
              <a:t>#include</a:t>
            </a:r>
            <a:r>
              <a:rPr sz="2800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AF50"/>
                </a:solidFill>
                <a:latin typeface="Calibri"/>
                <a:cs typeface="Calibri"/>
              </a:rPr>
              <a:t>&lt;iostream&gt;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using</a:t>
            </a:r>
            <a:r>
              <a:rPr sz="2800" spc="-11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namespace</a:t>
            </a:r>
            <a:r>
              <a:rPr sz="2800" spc="-10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std;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8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main()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var1</a:t>
            </a:r>
            <a:r>
              <a:rPr sz="28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3;</a:t>
            </a:r>
            <a:endParaRPr sz="2800">
              <a:latin typeface="Calibri"/>
              <a:cs typeface="Calibri"/>
            </a:endParaRPr>
          </a:p>
          <a:p>
            <a:pPr marL="12700" marR="1212215">
              <a:lnSpc>
                <a:spcPct val="109600"/>
              </a:lnSpc>
              <a:spcBef>
                <a:spcPts val="15"/>
              </a:spcBef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var2</a:t>
            </a:r>
            <a:r>
              <a:rPr sz="28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8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15;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var3</a:t>
            </a:r>
            <a:r>
              <a:rPr sz="28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8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29;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cout&lt;&lt;&amp;var1&lt;&lt;endl;</a:t>
            </a:r>
            <a:endParaRPr sz="2800">
              <a:latin typeface="Calibri"/>
              <a:cs typeface="Calibri"/>
            </a:endParaRPr>
          </a:p>
          <a:p>
            <a:pPr marL="12700" marR="155575" algn="just">
              <a:lnSpc>
                <a:spcPct val="109700"/>
              </a:lnSpc>
              <a:spcBef>
                <a:spcPts val="10"/>
              </a:spcBef>
            </a:pP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cout&lt;&lt;&amp;var2&lt;&lt;endl; cout&lt;&lt;&amp;var3&lt;&lt;endl;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return</a:t>
            </a:r>
            <a:r>
              <a:rPr sz="2800" spc="-114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0;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061831" y="59586"/>
            <a:ext cx="2072639" cy="2070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105"/>
              </a:spcBef>
            </a:pPr>
            <a:r>
              <a:rPr sz="2800" spc="-10" dirty="0">
                <a:solidFill>
                  <a:srgbClr val="00AFEF"/>
                </a:solidFill>
                <a:latin typeface="Calibri"/>
                <a:cs typeface="Calibri"/>
              </a:rPr>
              <a:t>Output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0x7fff5fbff8ac </a:t>
            </a: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0x7fff5fbff8a8 0x7fff5fbff8a4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9364980" cy="25844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1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Variable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8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is</a:t>
            </a:r>
            <a:r>
              <a:rPr sz="28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8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that</a:t>
            </a: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stores</a:t>
            </a:r>
            <a:r>
              <a:rPr sz="28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address</a:t>
            </a: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8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memory</a:t>
            </a: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cell.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8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is</a:t>
            </a:r>
            <a:r>
              <a:rPr sz="28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used</a:t>
            </a: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to</a:t>
            </a:r>
            <a:r>
              <a:rPr sz="28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reference</a:t>
            </a:r>
            <a:r>
              <a:rPr sz="28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this</a:t>
            </a:r>
            <a:r>
              <a:rPr sz="28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memory</a:t>
            </a:r>
            <a:r>
              <a:rPr sz="28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cell.</a:t>
            </a:r>
            <a:endParaRPr sz="2800">
              <a:latin typeface="Calibri"/>
              <a:cs typeface="Calibri"/>
            </a:endParaRPr>
          </a:p>
          <a:p>
            <a:pPr marL="4374515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100;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800" spc="-8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a’s</a:t>
            </a:r>
            <a:r>
              <a:rPr sz="2800" spc="-7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800" spc="-8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100</a:t>
            </a:r>
            <a:r>
              <a:rPr sz="28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is</a:t>
            </a:r>
            <a:r>
              <a:rPr sz="2800" spc="-8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stored</a:t>
            </a:r>
            <a:r>
              <a:rPr sz="28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at</a:t>
            </a:r>
            <a:r>
              <a:rPr sz="2800" spc="-9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location</a:t>
            </a:r>
            <a:r>
              <a:rPr sz="2800" spc="-8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1024.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35964" y="4787417"/>
          <a:ext cx="7217408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Memory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Address: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5770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01317" y="5057013"/>
          <a:ext cx="8126727" cy="57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9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b="1" spc="-25" dirty="0">
                          <a:latin typeface="Calibri"/>
                          <a:cs typeface="Calibri"/>
                        </a:rPr>
                        <a:t>100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b="1" spc="-20" dirty="0">
                          <a:latin typeface="Calibri"/>
                          <a:cs typeface="Calibri"/>
                        </a:rPr>
                        <a:t>1024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0023" y="5903976"/>
            <a:ext cx="1197876" cy="64767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020567" y="5533644"/>
            <a:ext cx="2251075" cy="1036319"/>
            <a:chOff x="3020567" y="5533644"/>
            <a:chExt cx="2251075" cy="1036319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0567" y="5533644"/>
              <a:ext cx="2250948" cy="10363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9976" y="5574538"/>
              <a:ext cx="2136802" cy="92076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439159" y="6001308"/>
            <a:ext cx="803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3366CC"/>
                </a:solidFill>
                <a:latin typeface="Arial MT"/>
                <a:cs typeface="Arial MT"/>
              </a:rPr>
              <a:t>integer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59268" y="6021323"/>
            <a:ext cx="1197876" cy="647674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7296911" y="5541264"/>
            <a:ext cx="2324100" cy="1080770"/>
            <a:chOff x="7296911" y="5541264"/>
            <a:chExt cx="2324100" cy="108077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96911" y="5541264"/>
              <a:ext cx="2324100" cy="108052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56572" y="5581904"/>
              <a:ext cx="2209350" cy="96515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059673" y="6119571"/>
            <a:ext cx="803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3366CC"/>
                </a:solidFill>
                <a:latin typeface="Arial MT"/>
                <a:cs typeface="Arial MT"/>
              </a:rPr>
              <a:t>pointer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547"/>
            <a:ext cx="10361295" cy="44564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1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Variable</a:t>
            </a:r>
            <a:r>
              <a:rPr sz="2800" b="1" spc="-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Declaration</a:t>
            </a:r>
            <a:endParaRPr sz="2800">
              <a:latin typeface="Calibri"/>
              <a:cs typeface="Calibri"/>
            </a:endParaRPr>
          </a:p>
          <a:p>
            <a:pPr marL="240029" marR="481330" indent="-227329">
              <a:lnSpc>
                <a:spcPts val="269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8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must</a:t>
            </a: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be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declared</a:t>
            </a:r>
            <a:r>
              <a:rPr sz="28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before</a:t>
            </a:r>
            <a:r>
              <a:rPr sz="28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it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can</a:t>
            </a:r>
            <a:r>
              <a:rPr sz="28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be</a:t>
            </a:r>
            <a:r>
              <a:rPr sz="28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used.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Some</a:t>
            </a: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of 	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8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examples</a:t>
            </a:r>
            <a:r>
              <a:rPr sz="28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800" spc="-7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8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declarations</a:t>
            </a:r>
            <a:r>
              <a:rPr sz="28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are: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800">
              <a:latin typeface="Calibri"/>
              <a:cs typeface="Calibri"/>
            </a:endParaRPr>
          </a:p>
          <a:p>
            <a:pPr marL="2896235" marR="2884170" indent="360045">
              <a:lnSpc>
                <a:spcPct val="109800"/>
              </a:lnSpc>
              <a:spcBef>
                <a:spcPts val="5"/>
              </a:spcBef>
              <a:tabLst>
                <a:tab pos="3880485" algn="l"/>
              </a:tabLst>
            </a:pP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*a;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//</a:t>
            </a:r>
            <a:r>
              <a:rPr sz="28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*</a:t>
            </a:r>
            <a:r>
              <a:rPr sz="28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a;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//</a:t>
            </a:r>
            <a:r>
              <a:rPr sz="28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int*</a:t>
            </a:r>
            <a:r>
              <a:rPr sz="2800" spc="-1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a;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float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*b; //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float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*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b;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//</a:t>
            </a:r>
            <a:r>
              <a:rPr sz="2800" spc="-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float*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b;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char</a:t>
            </a:r>
            <a:r>
              <a:rPr sz="28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*c;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//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char</a:t>
            </a:r>
            <a:r>
              <a:rPr sz="28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*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c;</a:t>
            </a:r>
            <a:r>
              <a:rPr sz="28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//</a:t>
            </a: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char*</a:t>
            </a:r>
            <a:r>
              <a:rPr sz="28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c;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2690"/>
              </a:lnSpc>
              <a:tabLst>
                <a:tab pos="542925" algn="l"/>
                <a:tab pos="1818639" algn="l"/>
                <a:tab pos="2355215" algn="l"/>
                <a:tab pos="3437254" algn="l"/>
                <a:tab pos="3743960" algn="l"/>
                <a:tab pos="5024120" algn="l"/>
                <a:tab pos="5754370" algn="l"/>
                <a:tab pos="6372860" algn="l"/>
                <a:tab pos="7779384" algn="l"/>
                <a:tab pos="8508365" algn="l"/>
                <a:tab pos="8985250" algn="l"/>
                <a:tab pos="9293225" algn="l"/>
              </a:tabLst>
            </a:pP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An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00AFEF"/>
                </a:solidFill>
                <a:latin typeface="Calibri"/>
                <a:cs typeface="Calibri"/>
              </a:rPr>
              <a:t>asterisk</a:t>
            </a:r>
            <a:r>
              <a:rPr sz="2800" b="1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sz="2800" b="1" spc="-25" dirty="0">
                <a:solidFill>
                  <a:srgbClr val="00AFEF"/>
                </a:solidFill>
                <a:latin typeface="Calibri"/>
                <a:cs typeface="Calibri"/>
              </a:rPr>
              <a:t>(*)</a:t>
            </a:r>
            <a:r>
              <a:rPr sz="2800" b="1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before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tells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compiler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that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its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pointer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variable.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69816"/>
            <a:ext cx="2390140" cy="180657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1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AF50"/>
                </a:solidFill>
                <a:latin typeface="Calibri"/>
                <a:cs typeface="Calibri"/>
              </a:rPr>
              <a:t>Variable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810"/>
              </a:spcBef>
            </a:pP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0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000" spc="-20" dirty="0">
                <a:solidFill>
                  <a:srgbClr val="160C5C"/>
                </a:solidFill>
                <a:latin typeface="Calibri"/>
                <a:cs typeface="Calibri"/>
              </a:rPr>
              <a:t> 100;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0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60C5C"/>
                </a:solidFill>
                <a:latin typeface="Calibri"/>
                <a:cs typeface="Calibri"/>
              </a:rPr>
              <a:t>*p;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p</a:t>
            </a:r>
            <a:r>
              <a:rPr sz="2000" spc="-1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000" spc="-1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60C5C"/>
                </a:solidFill>
                <a:latin typeface="Calibri"/>
                <a:cs typeface="Calibri"/>
              </a:rPr>
              <a:t>&amp;a;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9575" y="1845451"/>
            <a:ext cx="5097780" cy="163195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000" spc="-10" dirty="0">
                <a:solidFill>
                  <a:srgbClr val="160C5C"/>
                </a:solidFill>
                <a:latin typeface="Calibri"/>
                <a:cs typeface="Calibri"/>
              </a:rPr>
              <a:t>//integer</a:t>
            </a:r>
            <a:r>
              <a:rPr sz="20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000" spc="-50" dirty="0">
                <a:solidFill>
                  <a:srgbClr val="160C5C"/>
                </a:solidFill>
                <a:latin typeface="Calibri"/>
                <a:cs typeface="Calibri"/>
              </a:rPr>
              <a:t> a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-10" dirty="0">
                <a:solidFill>
                  <a:srgbClr val="160C5C"/>
                </a:solidFill>
                <a:latin typeface="Calibri"/>
                <a:cs typeface="Calibri"/>
              </a:rPr>
              <a:t>//integer</a:t>
            </a:r>
            <a:r>
              <a:rPr sz="2000" spc="-9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0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000" spc="-8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160C5C"/>
                </a:solidFill>
                <a:latin typeface="Calibri"/>
                <a:cs typeface="Calibri"/>
              </a:rPr>
              <a:t>p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31500"/>
              </a:lnSpc>
              <a:spcBef>
                <a:spcPts val="5"/>
              </a:spcBef>
            </a:pP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/*assigning</a:t>
            </a:r>
            <a:r>
              <a:rPr sz="20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memory</a:t>
            </a:r>
            <a:r>
              <a:rPr sz="20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address</a:t>
            </a:r>
            <a:r>
              <a:rPr sz="20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0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integer</a:t>
            </a:r>
            <a:r>
              <a:rPr sz="20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0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160C5C"/>
                </a:solidFill>
                <a:latin typeface="Calibri"/>
                <a:cs typeface="Calibri"/>
              </a:rPr>
              <a:t>a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0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0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p</a:t>
            </a:r>
            <a:r>
              <a:rPr sz="20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or</a:t>
            </a:r>
            <a:r>
              <a:rPr sz="20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simply</a:t>
            </a:r>
            <a:r>
              <a:rPr sz="20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its</a:t>
            </a:r>
            <a:r>
              <a:rPr sz="20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60C5C"/>
                </a:solidFill>
                <a:latin typeface="Calibri"/>
                <a:cs typeface="Calibri"/>
              </a:rPr>
              <a:t>referencing*/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3858259"/>
            <a:ext cx="995807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spc="-2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60C5C"/>
                </a:solidFill>
                <a:latin typeface="Calibri"/>
                <a:cs typeface="Calibri"/>
              </a:rPr>
              <a:t>a’s</a:t>
            </a:r>
            <a:r>
              <a:rPr sz="24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100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stored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at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location</a:t>
            </a:r>
            <a:r>
              <a:rPr sz="24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1024.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address</a:t>
            </a:r>
            <a:r>
              <a:rPr sz="24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is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stored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60C5C"/>
                </a:solidFill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4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4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p</a:t>
            </a:r>
            <a:r>
              <a:rPr sz="2400" spc="-7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at</a:t>
            </a:r>
            <a:r>
              <a:rPr sz="2400" spc="-8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location</a:t>
            </a:r>
            <a:r>
              <a:rPr sz="2400" spc="-9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1032.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35964" y="4787417"/>
          <a:ext cx="7217408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Memory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Address: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5770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901317" y="5057013"/>
          <a:ext cx="8126727" cy="57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9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b="1" spc="-25" dirty="0">
                          <a:latin typeface="Calibri"/>
                          <a:cs typeface="Calibri"/>
                        </a:rPr>
                        <a:t>100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b="1" spc="-20" dirty="0">
                          <a:latin typeface="Calibri"/>
                          <a:cs typeface="Calibri"/>
                        </a:rPr>
                        <a:t>1024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200" b="1" spc="-50" dirty="0">
                          <a:latin typeface="Calibri"/>
                          <a:cs typeface="Calibri"/>
                        </a:rPr>
                        <a:t>…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28575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7164" y="5903976"/>
            <a:ext cx="1406652" cy="64767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020567" y="5533644"/>
            <a:ext cx="2479675" cy="1036319"/>
            <a:chOff x="3020567" y="5533644"/>
            <a:chExt cx="2479675" cy="1036319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0567" y="5533644"/>
              <a:ext cx="2479548" cy="10363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0420" y="5574538"/>
              <a:ext cx="2364958" cy="92075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417189" y="6001308"/>
            <a:ext cx="10128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366CC"/>
                </a:solidFill>
                <a:latin typeface="Arial MT"/>
                <a:cs typeface="Arial MT"/>
              </a:rPr>
              <a:t>integer</a:t>
            </a:r>
            <a:r>
              <a:rPr sz="20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3366CC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42959" y="6109718"/>
            <a:ext cx="1406652" cy="647674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755635" y="5513832"/>
            <a:ext cx="2435860" cy="1196340"/>
            <a:chOff x="7755635" y="5513832"/>
            <a:chExt cx="2435860" cy="119634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55635" y="5513832"/>
              <a:ext cx="2435352" cy="11963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5198" y="5554853"/>
              <a:ext cx="2321139" cy="108057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643619" y="6207048"/>
            <a:ext cx="10128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366CC"/>
                </a:solidFill>
                <a:latin typeface="Arial MT"/>
                <a:cs typeface="Arial MT"/>
              </a:rPr>
              <a:t>pointer</a:t>
            </a:r>
            <a:r>
              <a:rPr sz="20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3366CC"/>
                </a:solidFill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02034"/>
            <a:ext cx="2390140" cy="239204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1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AF50"/>
                </a:solidFill>
                <a:latin typeface="Calibri"/>
                <a:cs typeface="Calibri"/>
              </a:rPr>
              <a:t>Variable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5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a,</a:t>
            </a:r>
            <a:r>
              <a:rPr sz="24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b,</a:t>
            </a:r>
            <a:r>
              <a:rPr sz="24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60C5C"/>
                </a:solidFill>
                <a:latin typeface="Calibri"/>
                <a:cs typeface="Calibri"/>
              </a:rPr>
              <a:t>*p;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60C5C"/>
                </a:solidFill>
                <a:latin typeface="Calibri"/>
                <a:cs typeface="Calibri"/>
              </a:rPr>
              <a:t>88;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b</a:t>
            </a:r>
            <a:r>
              <a:rPr sz="24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60C5C"/>
                </a:solidFill>
                <a:latin typeface="Calibri"/>
                <a:cs typeface="Calibri"/>
              </a:rPr>
              <a:t>100;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p</a:t>
            </a:r>
            <a:r>
              <a:rPr sz="24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60C5C"/>
                </a:solidFill>
                <a:latin typeface="Calibri"/>
                <a:cs typeface="Calibri"/>
              </a:rPr>
              <a:t>&amp;a;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5175" y="2399204"/>
            <a:ext cx="2466975" cy="93789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81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//get</a:t>
            </a:r>
            <a:r>
              <a:rPr sz="24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//get</a:t>
            </a:r>
            <a:r>
              <a:rPr sz="2400" spc="-9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4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1594" y="3767883"/>
            <a:ext cx="2983230" cy="93789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cout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&lt;&lt;</a:t>
            </a:r>
            <a:r>
              <a:rPr sz="24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a&lt;&lt;</a:t>
            </a:r>
            <a:r>
              <a:rPr sz="24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&amp;a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&lt;&lt;</a:t>
            </a:r>
            <a:r>
              <a:rPr sz="2400" spc="-2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endl;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cout</a:t>
            </a:r>
            <a:r>
              <a:rPr sz="24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&lt;&lt;</a:t>
            </a:r>
            <a:r>
              <a:rPr sz="24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p&lt;&lt;</a:t>
            </a:r>
            <a:r>
              <a:rPr sz="2400" spc="-2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&amp;p</a:t>
            </a:r>
            <a:r>
              <a:rPr sz="2400" spc="-2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&lt;&lt;</a:t>
            </a:r>
            <a:r>
              <a:rPr sz="24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endl;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4127" y="3767883"/>
            <a:ext cx="4328160" cy="93789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1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//prints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address</a:t>
            </a:r>
            <a:r>
              <a:rPr sz="24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//prints</a:t>
            </a:r>
            <a:r>
              <a:rPr sz="24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4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4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and</a:t>
            </a:r>
            <a:r>
              <a:rPr sz="24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address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4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p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35964" y="4787417"/>
          <a:ext cx="7217408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Memory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Address: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5770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1626107" y="5057013"/>
            <a:ext cx="8428990" cy="1510030"/>
            <a:chOff x="1626107" y="5057013"/>
            <a:chExt cx="8428990" cy="1510030"/>
          </a:xfrm>
        </p:grpSpPr>
        <p:sp>
          <p:nvSpPr>
            <p:cNvPr id="10" name="object 10"/>
            <p:cNvSpPr/>
            <p:nvPr/>
          </p:nvSpPr>
          <p:spPr>
            <a:xfrm>
              <a:off x="1901316" y="5063363"/>
              <a:ext cx="8140700" cy="598805"/>
            </a:xfrm>
            <a:custGeom>
              <a:avLst/>
              <a:gdLst/>
              <a:ahLst/>
              <a:cxnLst/>
              <a:rect l="l" t="t" r="r" b="b"/>
              <a:pathLst>
                <a:path w="8140700" h="598804">
                  <a:moveTo>
                    <a:pt x="1361058" y="0"/>
                  </a:moveTo>
                  <a:lnTo>
                    <a:pt x="1361058" y="598182"/>
                  </a:lnTo>
                </a:path>
                <a:path w="8140700" h="598804">
                  <a:moveTo>
                    <a:pt x="2715768" y="0"/>
                  </a:moveTo>
                  <a:lnTo>
                    <a:pt x="2715768" y="598182"/>
                  </a:lnTo>
                </a:path>
                <a:path w="8140700" h="598804">
                  <a:moveTo>
                    <a:pt x="4070350" y="0"/>
                  </a:moveTo>
                  <a:lnTo>
                    <a:pt x="4070350" y="598182"/>
                  </a:lnTo>
                </a:path>
                <a:path w="8140700" h="598804">
                  <a:moveTo>
                    <a:pt x="5425058" y="0"/>
                  </a:moveTo>
                  <a:lnTo>
                    <a:pt x="5425058" y="598182"/>
                  </a:lnTo>
                </a:path>
                <a:path w="8140700" h="598804">
                  <a:moveTo>
                    <a:pt x="6779767" y="0"/>
                  </a:moveTo>
                  <a:lnTo>
                    <a:pt x="6779767" y="598182"/>
                  </a:lnTo>
                </a:path>
                <a:path w="8140700" h="598804">
                  <a:moveTo>
                    <a:pt x="6350" y="0"/>
                  </a:moveTo>
                  <a:lnTo>
                    <a:pt x="6350" y="598182"/>
                  </a:lnTo>
                </a:path>
                <a:path w="8140700" h="598804">
                  <a:moveTo>
                    <a:pt x="8134350" y="0"/>
                  </a:moveTo>
                  <a:lnTo>
                    <a:pt x="8134350" y="598182"/>
                  </a:lnTo>
                </a:path>
                <a:path w="8140700" h="598804">
                  <a:moveTo>
                    <a:pt x="0" y="6350"/>
                  </a:moveTo>
                  <a:lnTo>
                    <a:pt x="8140700" y="6350"/>
                  </a:lnTo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01316" y="5648845"/>
              <a:ext cx="8140700" cy="0"/>
            </a:xfrm>
            <a:custGeom>
              <a:avLst/>
              <a:gdLst/>
              <a:ahLst/>
              <a:cxnLst/>
              <a:rect l="l" t="t" r="r" b="b"/>
              <a:pathLst>
                <a:path w="8140700">
                  <a:moveTo>
                    <a:pt x="0" y="0"/>
                  </a:moveTo>
                  <a:lnTo>
                    <a:pt x="8140700" y="0"/>
                  </a:lnTo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6107" y="5530596"/>
              <a:ext cx="2456688" cy="10363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5083" y="5900927"/>
              <a:ext cx="1406652" cy="6476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5993" y="5571490"/>
              <a:ext cx="2341430" cy="92075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914017" y="5077790"/>
            <a:ext cx="2696845" cy="12528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5780">
              <a:lnSpc>
                <a:spcPct val="100000"/>
              </a:lnSpc>
              <a:spcBef>
                <a:spcPts val="105"/>
              </a:spcBef>
              <a:tabLst>
                <a:tab pos="1819275" algn="l"/>
              </a:tabLst>
            </a:pPr>
            <a:r>
              <a:rPr sz="3200" b="1" spc="-50" dirty="0">
                <a:latin typeface="Calibri"/>
                <a:cs typeface="Calibri"/>
              </a:rPr>
              <a:t>…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25" dirty="0">
                <a:latin typeface="Calibri"/>
                <a:cs typeface="Calibri"/>
              </a:rPr>
              <a:t>88</a:t>
            </a:r>
            <a:endParaRPr sz="320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3415"/>
              </a:spcBef>
            </a:pPr>
            <a:r>
              <a:rPr sz="2000" dirty="0">
                <a:solidFill>
                  <a:srgbClr val="3366CC"/>
                </a:solidFill>
                <a:latin typeface="Arial MT"/>
                <a:cs typeface="Arial MT"/>
              </a:rPr>
              <a:t>integer</a:t>
            </a:r>
            <a:r>
              <a:rPr sz="20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3366CC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241035" y="5477255"/>
            <a:ext cx="5073650" cy="1091565"/>
            <a:chOff x="5241035" y="5477255"/>
            <a:chExt cx="5073650" cy="109156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1035" y="5477255"/>
              <a:ext cx="2168652" cy="10896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4059" y="5900927"/>
              <a:ext cx="1406652" cy="6476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99709" y="5518276"/>
              <a:ext cx="2054675" cy="97396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5779" y="5478779"/>
              <a:ext cx="2168652" cy="10896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18803" y="5902451"/>
              <a:ext cx="1406652" cy="6476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04453" y="5519800"/>
              <a:ext cx="2054675" cy="97396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623434" y="5077790"/>
            <a:ext cx="5406390" cy="1253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105"/>
              </a:spcBef>
              <a:tabLst>
                <a:tab pos="1880870" algn="l"/>
                <a:tab pos="2968625" algn="l"/>
                <a:tab pos="4590415" algn="l"/>
              </a:tabLst>
            </a:pPr>
            <a:r>
              <a:rPr sz="3200" b="1" spc="-25" dirty="0">
                <a:latin typeface="Calibri"/>
                <a:cs typeface="Calibri"/>
              </a:rPr>
              <a:t>100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50" dirty="0">
                <a:latin typeface="Calibri"/>
                <a:cs typeface="Calibri"/>
              </a:rPr>
              <a:t>…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20" dirty="0">
                <a:latin typeface="Calibri"/>
                <a:cs typeface="Calibri"/>
              </a:rPr>
              <a:t>1020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50" dirty="0">
                <a:latin typeface="Calibri"/>
                <a:cs typeface="Calibri"/>
              </a:rPr>
              <a:t>…</a:t>
            </a:r>
            <a:endParaRPr sz="3200">
              <a:latin typeface="Calibri"/>
              <a:cs typeface="Calibri"/>
            </a:endParaRPr>
          </a:p>
          <a:p>
            <a:pPr marL="1403350">
              <a:lnSpc>
                <a:spcPct val="100000"/>
              </a:lnSpc>
              <a:spcBef>
                <a:spcPts val="3420"/>
              </a:spcBef>
              <a:tabLst>
                <a:tab pos="4307840" algn="l"/>
              </a:tabLst>
            </a:pPr>
            <a:r>
              <a:rPr sz="2000" dirty="0">
                <a:solidFill>
                  <a:srgbClr val="3366CC"/>
                </a:solidFill>
                <a:latin typeface="Arial MT"/>
                <a:cs typeface="Arial MT"/>
              </a:rPr>
              <a:t>integer</a:t>
            </a:r>
            <a:r>
              <a:rPr sz="20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3366CC"/>
                </a:solidFill>
                <a:latin typeface="Arial MT"/>
                <a:cs typeface="Arial MT"/>
              </a:rPr>
              <a:t>b</a:t>
            </a:r>
            <a:r>
              <a:rPr sz="2000" dirty="0">
                <a:solidFill>
                  <a:srgbClr val="3366CC"/>
                </a:solidFill>
                <a:latin typeface="Arial MT"/>
                <a:cs typeface="Arial MT"/>
              </a:rPr>
              <a:t>	pointer</a:t>
            </a:r>
            <a:r>
              <a:rPr sz="20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3366CC"/>
                </a:solidFill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93507" y="1892807"/>
            <a:ext cx="3595115" cy="174650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493507" y="1892807"/>
            <a:ext cx="3595370" cy="1746885"/>
          </a:xfrm>
          <a:prstGeom prst="rect">
            <a:avLst/>
          </a:prstGeom>
          <a:ln w="6350">
            <a:solidFill>
              <a:srgbClr val="4471C4"/>
            </a:solidFill>
          </a:ln>
        </p:spPr>
        <p:txBody>
          <a:bodyPr vert="horz" wrap="square" lIns="0" tIns="210820" rIns="0" bIns="0" rtlCol="0">
            <a:spAutoFit/>
          </a:bodyPr>
          <a:lstStyle/>
          <a:p>
            <a:pPr marL="1170940" marR="1160780" indent="-1905" algn="ctr">
              <a:lnSpc>
                <a:spcPct val="100000"/>
              </a:lnSpc>
              <a:spcBef>
                <a:spcPts val="1660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Output: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88,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1020</a:t>
            </a:r>
            <a:endParaRPr sz="2800">
              <a:latin typeface="Calibri"/>
              <a:cs typeface="Calibri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1020,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1032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69816"/>
            <a:ext cx="2643505" cy="301117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sz="2800" b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endParaRPr sz="2800">
              <a:latin typeface="Calibri"/>
              <a:cs typeface="Calibri"/>
            </a:endParaRPr>
          </a:p>
          <a:p>
            <a:pPr marL="927100" marR="371475">
              <a:lnSpc>
                <a:spcPct val="131800"/>
              </a:lnSpc>
              <a:spcBef>
                <a:spcPts val="45"/>
              </a:spcBef>
            </a:pP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0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0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60C5C"/>
                </a:solidFill>
                <a:latin typeface="Calibri"/>
                <a:cs typeface="Calibri"/>
              </a:rPr>
              <a:t>58;</a:t>
            </a:r>
            <a:r>
              <a:rPr sz="2000" spc="50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0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*p</a:t>
            </a:r>
            <a:r>
              <a:rPr sz="20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0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60C5C"/>
                </a:solidFill>
                <a:latin typeface="Calibri"/>
                <a:cs typeface="Calibri"/>
              </a:rPr>
              <a:t>&amp;a;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0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**q</a:t>
            </a:r>
            <a:r>
              <a:rPr sz="20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0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60C5C"/>
                </a:solidFill>
                <a:latin typeface="Calibri"/>
                <a:cs typeface="Calibri"/>
              </a:rPr>
              <a:t>&amp;p;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60"/>
              </a:spcBef>
            </a:pP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cout</a:t>
            </a:r>
            <a:r>
              <a:rPr sz="20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&lt;&lt;</a:t>
            </a:r>
            <a:r>
              <a:rPr sz="2000" spc="-2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&lt;&lt;“</a:t>
            </a:r>
            <a:r>
              <a:rPr sz="20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160C5C"/>
                </a:solidFill>
                <a:latin typeface="Calibri"/>
                <a:cs typeface="Calibri"/>
              </a:rPr>
              <a:t>”;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cout</a:t>
            </a:r>
            <a:r>
              <a:rPr sz="20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&lt;&lt;*p&lt;&lt;“</a:t>
            </a:r>
            <a:r>
              <a:rPr sz="20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160C5C"/>
                </a:solidFill>
                <a:latin typeface="Calibri"/>
                <a:cs typeface="Calibri"/>
              </a:rPr>
              <a:t>”;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60"/>
              </a:spcBef>
            </a:pP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cout</a:t>
            </a:r>
            <a:r>
              <a:rPr sz="20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60C5C"/>
                </a:solidFill>
                <a:latin typeface="Calibri"/>
                <a:cs typeface="Calibri"/>
              </a:rPr>
              <a:t>&lt;&lt;**q;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9575" y="1845451"/>
            <a:ext cx="4196080" cy="123126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000" spc="-10" dirty="0">
                <a:solidFill>
                  <a:srgbClr val="160C5C"/>
                </a:solidFill>
                <a:latin typeface="Calibri"/>
                <a:cs typeface="Calibri"/>
              </a:rPr>
              <a:t>//integer</a:t>
            </a:r>
            <a:r>
              <a:rPr sz="20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000" spc="-50" dirty="0">
                <a:solidFill>
                  <a:srgbClr val="160C5C"/>
                </a:solidFill>
                <a:latin typeface="Calibri"/>
                <a:cs typeface="Calibri"/>
              </a:rPr>
              <a:t> a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-10" dirty="0">
                <a:solidFill>
                  <a:srgbClr val="160C5C"/>
                </a:solidFill>
                <a:latin typeface="Calibri"/>
                <a:cs typeface="Calibri"/>
              </a:rPr>
              <a:t>//pointer</a:t>
            </a:r>
            <a:r>
              <a:rPr sz="2000" spc="-8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to</a:t>
            </a:r>
            <a:r>
              <a:rPr sz="20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integer</a:t>
            </a:r>
            <a:r>
              <a:rPr sz="20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0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160C5C"/>
                </a:solidFill>
                <a:latin typeface="Calibri"/>
                <a:cs typeface="Calibri"/>
              </a:rPr>
              <a:t>p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spc="-10" dirty="0">
                <a:solidFill>
                  <a:srgbClr val="160C5C"/>
                </a:solidFill>
                <a:latin typeface="Calibri"/>
                <a:cs typeface="Calibri"/>
              </a:rPr>
              <a:t>//pointer</a:t>
            </a:r>
            <a:r>
              <a:rPr sz="2000" spc="-7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0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integer</a:t>
            </a:r>
            <a:r>
              <a:rPr sz="20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0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160C5C"/>
                </a:solidFill>
                <a:latin typeface="Calibri"/>
                <a:cs typeface="Calibri"/>
              </a:rPr>
              <a:t>q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3152" y="3679228"/>
            <a:ext cx="7994456" cy="21682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307" y="4747259"/>
            <a:ext cx="3595116" cy="17449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8307" y="4747259"/>
            <a:ext cx="3595370" cy="1744980"/>
          </a:xfrm>
          <a:prstGeom prst="rect">
            <a:avLst/>
          </a:prstGeom>
          <a:ln w="6350">
            <a:solidFill>
              <a:srgbClr val="4471C4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endParaRPr sz="2800">
              <a:latin typeface="Times New Roman"/>
              <a:cs typeface="Times New Roman"/>
            </a:endParaRPr>
          </a:p>
          <a:p>
            <a:pPr marL="1174750" marR="1167130" indent="43815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Output: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58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58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 58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547"/>
            <a:ext cx="8312784" cy="18999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800" b="1" spc="-20" dirty="0">
                <a:solidFill>
                  <a:srgbClr val="00AF50"/>
                </a:solidFill>
                <a:latin typeface="Calibri"/>
                <a:cs typeface="Calibri"/>
              </a:rPr>
              <a:t>Referencing</a:t>
            </a:r>
            <a:r>
              <a:rPr sz="2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AF50"/>
                </a:solidFill>
                <a:latin typeface="Calibri"/>
                <a:cs typeface="Calibri"/>
              </a:rPr>
              <a:t>(Reference</a:t>
            </a:r>
            <a:r>
              <a:rPr sz="2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AF50"/>
                </a:solidFill>
                <a:latin typeface="Calibri"/>
                <a:cs typeface="Calibri"/>
              </a:rPr>
              <a:t>Operator</a:t>
            </a:r>
            <a:r>
              <a:rPr sz="28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00AF50"/>
                </a:solidFill>
                <a:latin typeface="Calibri"/>
                <a:cs typeface="Calibri"/>
              </a:rPr>
              <a:t>&amp;)</a:t>
            </a:r>
            <a:endParaRPr sz="2800">
              <a:latin typeface="Calibri"/>
              <a:cs typeface="Calibri"/>
            </a:endParaRPr>
          </a:p>
          <a:p>
            <a:pPr marL="12700" marR="5080" indent="227329">
              <a:lnSpc>
                <a:spcPts val="3700"/>
              </a:lnSpc>
              <a:spcBef>
                <a:spcPts val="1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Referencing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means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making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8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point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to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variable.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8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c=7;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755900" algn="l"/>
              </a:tabLst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*p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8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&amp;c;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//referencing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060570"/>
            <a:ext cx="1255395" cy="18999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OR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9600"/>
              </a:lnSpc>
              <a:spcBef>
                <a:spcPts val="5"/>
              </a:spcBef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c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 7;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8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*p;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p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800" spc="-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&amp;c;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0394" y="5508142"/>
            <a:ext cx="1936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//referencing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4579" y="3644646"/>
            <a:ext cx="523875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357485" cy="24561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20" dirty="0">
                <a:solidFill>
                  <a:srgbClr val="00AF50"/>
                </a:solidFill>
                <a:latin typeface="Calibri"/>
                <a:cs typeface="Calibri"/>
              </a:rPr>
              <a:t>Dereferencing</a:t>
            </a:r>
            <a:r>
              <a:rPr sz="28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AF50"/>
                </a:solidFill>
                <a:latin typeface="Calibri"/>
                <a:cs typeface="Calibri"/>
              </a:rPr>
              <a:t>(Dereference</a:t>
            </a:r>
            <a:r>
              <a:rPr sz="2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AF50"/>
                </a:solidFill>
                <a:latin typeface="Calibri"/>
                <a:cs typeface="Calibri"/>
              </a:rPr>
              <a:t>Operator</a:t>
            </a:r>
            <a:r>
              <a:rPr sz="2800" b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00AF50"/>
                </a:solidFill>
                <a:latin typeface="Calibri"/>
                <a:cs typeface="Calibri"/>
              </a:rPr>
              <a:t>*)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We</a:t>
            </a:r>
            <a:r>
              <a:rPr sz="2800" spc="18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can</a:t>
            </a:r>
            <a:r>
              <a:rPr sz="2800" spc="18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access</a:t>
            </a:r>
            <a:r>
              <a:rPr sz="2800" spc="19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to</a:t>
            </a:r>
            <a:r>
              <a:rPr sz="2800" spc="18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800" spc="19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800" spc="17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stored</a:t>
            </a:r>
            <a:r>
              <a:rPr sz="2800" spc="17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in</a:t>
            </a:r>
            <a:r>
              <a:rPr sz="2800" spc="18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800" spc="18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800" spc="17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pointed</a:t>
            </a:r>
            <a:r>
              <a:rPr sz="2800" spc="19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to</a:t>
            </a:r>
            <a:r>
              <a:rPr sz="2800" spc="19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using</a:t>
            </a:r>
            <a:r>
              <a:rPr sz="2800" spc="18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60C5C"/>
                </a:solidFill>
                <a:latin typeface="Calibri"/>
                <a:cs typeface="Calibri"/>
              </a:rPr>
              <a:t>the 	</a:t>
            </a:r>
            <a:r>
              <a:rPr sz="2800" spc="-20" dirty="0">
                <a:solidFill>
                  <a:srgbClr val="160C5C"/>
                </a:solidFill>
                <a:latin typeface="Calibri"/>
                <a:cs typeface="Calibri"/>
              </a:rPr>
              <a:t>dereferencing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operator.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unary</a:t>
            </a:r>
            <a:r>
              <a:rPr sz="28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operator</a:t>
            </a:r>
            <a:r>
              <a:rPr sz="28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*</a:t>
            </a: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is</a:t>
            </a:r>
            <a:r>
              <a:rPr sz="28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dereferencing</a:t>
            </a:r>
            <a:r>
              <a:rPr sz="28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operator.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We</a:t>
            </a:r>
            <a:r>
              <a:rPr sz="2800" spc="-7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may</a:t>
            </a:r>
            <a:r>
              <a:rPr sz="2800" spc="-8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update</a:t>
            </a:r>
            <a:r>
              <a:rPr sz="28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8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800" spc="-8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800" spc="-7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variable</a:t>
            </a:r>
            <a:r>
              <a:rPr sz="2800" spc="-8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pointed</a:t>
            </a:r>
            <a:r>
              <a:rPr sz="28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by</a:t>
            </a:r>
            <a:r>
              <a:rPr sz="28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800" spc="-7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8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60C5C"/>
                </a:solidFill>
                <a:latin typeface="Calibri"/>
                <a:cs typeface="Calibri"/>
              </a:rPr>
              <a:t>variable.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02034"/>
            <a:ext cx="5890895" cy="1023619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800" b="1" spc="-20" dirty="0">
                <a:solidFill>
                  <a:srgbClr val="00AF50"/>
                </a:solidFill>
                <a:latin typeface="Calibri"/>
                <a:cs typeface="Calibri"/>
              </a:rPr>
              <a:t>Dereferencing</a:t>
            </a:r>
            <a:r>
              <a:rPr sz="28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AF50"/>
                </a:solidFill>
                <a:latin typeface="Calibri"/>
                <a:cs typeface="Calibri"/>
              </a:rPr>
              <a:t>(Dereference</a:t>
            </a:r>
            <a:r>
              <a:rPr sz="2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Operator</a:t>
            </a:r>
            <a:r>
              <a:rPr sz="2800" b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00AF50"/>
                </a:solidFill>
                <a:latin typeface="Calibri"/>
                <a:cs typeface="Calibri"/>
              </a:rPr>
              <a:t>*)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5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int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a,</a:t>
            </a:r>
            <a:r>
              <a:rPr sz="24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b,</a:t>
            </a:r>
            <a:r>
              <a:rPr sz="24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60C5C"/>
                </a:solidFill>
                <a:latin typeface="Calibri"/>
                <a:cs typeface="Calibri"/>
              </a:rPr>
              <a:t>*p;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5175" y="2399204"/>
            <a:ext cx="2466975" cy="93789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81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//get</a:t>
            </a:r>
            <a:r>
              <a:rPr sz="24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//get</a:t>
            </a:r>
            <a:r>
              <a:rPr sz="2400" spc="-9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4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1594" y="2399204"/>
            <a:ext cx="1018540" cy="139509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60C5C"/>
                </a:solidFill>
                <a:latin typeface="Calibri"/>
                <a:cs typeface="Calibri"/>
              </a:rPr>
              <a:t>88;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b</a:t>
            </a:r>
            <a:r>
              <a:rPr sz="24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60C5C"/>
                </a:solidFill>
                <a:latin typeface="Calibri"/>
                <a:cs typeface="Calibri"/>
              </a:rPr>
              <a:t>100;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p</a:t>
            </a:r>
            <a:r>
              <a:rPr sz="2400" spc="-2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60C5C"/>
                </a:solidFill>
                <a:latin typeface="Calibri"/>
                <a:cs typeface="Calibri"/>
              </a:rPr>
              <a:t>&amp;a;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1594" y="3767883"/>
            <a:ext cx="3600450" cy="93789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cout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&lt;&lt;</a:t>
            </a:r>
            <a:r>
              <a:rPr sz="24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a&lt;&lt;</a:t>
            </a:r>
            <a:r>
              <a:rPr sz="2400" spc="-2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&amp;a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&lt;&lt;</a:t>
            </a:r>
            <a:r>
              <a:rPr sz="2400" spc="-3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b&lt;&lt;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endl;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cout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&lt;&lt;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p&lt;&lt;</a:t>
            </a:r>
            <a:r>
              <a:rPr sz="24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&amp;p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&lt;&lt;*p&lt;&lt;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endl;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35964" y="4787417"/>
          <a:ext cx="7217408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Memory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Address: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5770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1626107" y="5057013"/>
            <a:ext cx="8428990" cy="1510030"/>
            <a:chOff x="1626107" y="5057013"/>
            <a:chExt cx="8428990" cy="1510030"/>
          </a:xfrm>
        </p:grpSpPr>
        <p:sp>
          <p:nvSpPr>
            <p:cNvPr id="10" name="object 10"/>
            <p:cNvSpPr/>
            <p:nvPr/>
          </p:nvSpPr>
          <p:spPr>
            <a:xfrm>
              <a:off x="1901316" y="5063363"/>
              <a:ext cx="8140700" cy="598805"/>
            </a:xfrm>
            <a:custGeom>
              <a:avLst/>
              <a:gdLst/>
              <a:ahLst/>
              <a:cxnLst/>
              <a:rect l="l" t="t" r="r" b="b"/>
              <a:pathLst>
                <a:path w="8140700" h="598804">
                  <a:moveTo>
                    <a:pt x="1361058" y="0"/>
                  </a:moveTo>
                  <a:lnTo>
                    <a:pt x="1361058" y="598182"/>
                  </a:lnTo>
                </a:path>
                <a:path w="8140700" h="598804">
                  <a:moveTo>
                    <a:pt x="2715768" y="0"/>
                  </a:moveTo>
                  <a:lnTo>
                    <a:pt x="2715768" y="598182"/>
                  </a:lnTo>
                </a:path>
                <a:path w="8140700" h="598804">
                  <a:moveTo>
                    <a:pt x="4070350" y="0"/>
                  </a:moveTo>
                  <a:lnTo>
                    <a:pt x="4070350" y="598182"/>
                  </a:lnTo>
                </a:path>
                <a:path w="8140700" h="598804">
                  <a:moveTo>
                    <a:pt x="5425058" y="0"/>
                  </a:moveTo>
                  <a:lnTo>
                    <a:pt x="5425058" y="598182"/>
                  </a:lnTo>
                </a:path>
                <a:path w="8140700" h="598804">
                  <a:moveTo>
                    <a:pt x="6779767" y="0"/>
                  </a:moveTo>
                  <a:lnTo>
                    <a:pt x="6779767" y="598182"/>
                  </a:lnTo>
                </a:path>
                <a:path w="8140700" h="598804">
                  <a:moveTo>
                    <a:pt x="6350" y="0"/>
                  </a:moveTo>
                  <a:lnTo>
                    <a:pt x="6350" y="598182"/>
                  </a:lnTo>
                </a:path>
                <a:path w="8140700" h="598804">
                  <a:moveTo>
                    <a:pt x="8134350" y="0"/>
                  </a:moveTo>
                  <a:lnTo>
                    <a:pt x="8134350" y="598182"/>
                  </a:lnTo>
                </a:path>
                <a:path w="8140700" h="598804">
                  <a:moveTo>
                    <a:pt x="0" y="6350"/>
                  </a:moveTo>
                  <a:lnTo>
                    <a:pt x="8140700" y="6350"/>
                  </a:lnTo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01316" y="5648845"/>
              <a:ext cx="8140700" cy="0"/>
            </a:xfrm>
            <a:custGeom>
              <a:avLst/>
              <a:gdLst/>
              <a:ahLst/>
              <a:cxnLst/>
              <a:rect l="l" t="t" r="r" b="b"/>
              <a:pathLst>
                <a:path w="8140700">
                  <a:moveTo>
                    <a:pt x="0" y="0"/>
                  </a:moveTo>
                  <a:lnTo>
                    <a:pt x="8140700" y="0"/>
                  </a:lnTo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6107" y="5530596"/>
              <a:ext cx="2456688" cy="10363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5083" y="5900927"/>
              <a:ext cx="1406652" cy="6476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5993" y="5571490"/>
              <a:ext cx="2341430" cy="92075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914017" y="5077790"/>
            <a:ext cx="4051300" cy="12528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" algn="ctr">
              <a:lnSpc>
                <a:spcPct val="100000"/>
              </a:lnSpc>
              <a:spcBef>
                <a:spcPts val="105"/>
              </a:spcBef>
              <a:tabLst>
                <a:tab pos="1457960" algn="l"/>
                <a:tab pos="2710815" algn="l"/>
              </a:tabLst>
            </a:pPr>
            <a:r>
              <a:rPr sz="3200" b="1" spc="-50" dirty="0">
                <a:latin typeface="Calibri"/>
                <a:cs typeface="Calibri"/>
              </a:rPr>
              <a:t>…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25" dirty="0">
                <a:latin typeface="Calibri"/>
                <a:cs typeface="Calibri"/>
              </a:rPr>
              <a:t>88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25" dirty="0">
                <a:latin typeface="Calibri"/>
                <a:cs typeface="Calibri"/>
              </a:rPr>
              <a:t>100</a:t>
            </a:r>
            <a:endParaRPr sz="320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3415"/>
              </a:spcBef>
            </a:pPr>
            <a:r>
              <a:rPr sz="2000" dirty="0">
                <a:solidFill>
                  <a:srgbClr val="3366CC"/>
                </a:solidFill>
                <a:latin typeface="Arial MT"/>
                <a:cs typeface="Arial MT"/>
              </a:rPr>
              <a:t>integer</a:t>
            </a:r>
            <a:r>
              <a:rPr sz="20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3366CC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241035" y="5477255"/>
            <a:ext cx="5073650" cy="1091565"/>
            <a:chOff x="5241035" y="5477255"/>
            <a:chExt cx="5073650" cy="109156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1035" y="5477255"/>
              <a:ext cx="2168652" cy="10896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4059" y="5900927"/>
              <a:ext cx="1406652" cy="6476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99709" y="5518276"/>
              <a:ext cx="2054675" cy="97396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5779" y="5478779"/>
              <a:ext cx="2168652" cy="10896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18803" y="5902451"/>
              <a:ext cx="1406652" cy="6476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04453" y="5519800"/>
              <a:ext cx="2054675" cy="97396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747765" y="3728973"/>
            <a:ext cx="6104890" cy="260223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//prints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address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//prints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address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p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value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a</a:t>
            </a:r>
            <a:endParaRPr sz="2400">
              <a:latin typeface="Calibri"/>
              <a:cs typeface="Calibri"/>
            </a:endParaRPr>
          </a:p>
          <a:p>
            <a:pPr marR="1583690" algn="ctr">
              <a:lnSpc>
                <a:spcPct val="100000"/>
              </a:lnSpc>
              <a:spcBef>
                <a:spcPts val="2850"/>
              </a:spcBef>
              <a:tabLst>
                <a:tab pos="1087755" algn="l"/>
                <a:tab pos="2709545" algn="l"/>
              </a:tabLst>
            </a:pPr>
            <a:r>
              <a:rPr sz="3200" b="1" spc="-50" dirty="0">
                <a:latin typeface="Calibri"/>
                <a:cs typeface="Calibri"/>
              </a:rPr>
              <a:t>…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20" dirty="0">
                <a:latin typeface="Calibri"/>
                <a:cs typeface="Calibri"/>
              </a:rPr>
              <a:t>1020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50" dirty="0">
                <a:latin typeface="Calibri"/>
                <a:cs typeface="Calibri"/>
              </a:rPr>
              <a:t>…</a:t>
            </a:r>
            <a:endParaRPr sz="3200">
              <a:latin typeface="Calibri"/>
              <a:cs typeface="Calibri"/>
            </a:endParaRPr>
          </a:p>
          <a:p>
            <a:pPr marR="1646555" algn="ctr">
              <a:lnSpc>
                <a:spcPct val="100000"/>
              </a:lnSpc>
              <a:spcBef>
                <a:spcPts val="3420"/>
              </a:spcBef>
              <a:tabLst>
                <a:tab pos="2904490" algn="l"/>
              </a:tabLst>
            </a:pPr>
            <a:r>
              <a:rPr sz="2000" dirty="0">
                <a:solidFill>
                  <a:srgbClr val="3366CC"/>
                </a:solidFill>
                <a:latin typeface="Arial MT"/>
                <a:cs typeface="Arial MT"/>
              </a:rPr>
              <a:t>integer</a:t>
            </a:r>
            <a:r>
              <a:rPr sz="20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3366CC"/>
                </a:solidFill>
                <a:latin typeface="Arial MT"/>
                <a:cs typeface="Arial MT"/>
              </a:rPr>
              <a:t>b</a:t>
            </a:r>
            <a:r>
              <a:rPr sz="2000" dirty="0">
                <a:solidFill>
                  <a:srgbClr val="3366CC"/>
                </a:solidFill>
                <a:latin typeface="Arial MT"/>
                <a:cs typeface="Arial MT"/>
              </a:rPr>
              <a:t>	pointer</a:t>
            </a:r>
            <a:r>
              <a:rPr sz="20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3366CC"/>
                </a:solidFill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93507" y="1892807"/>
            <a:ext cx="3595115" cy="174650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493507" y="1892807"/>
            <a:ext cx="3595370" cy="1746885"/>
          </a:xfrm>
          <a:prstGeom prst="rect">
            <a:avLst/>
          </a:prstGeom>
          <a:ln w="6350">
            <a:solidFill>
              <a:srgbClr val="4471C4"/>
            </a:solidFill>
          </a:ln>
        </p:spPr>
        <p:txBody>
          <a:bodyPr vert="horz" wrap="square" lIns="0" tIns="210820" rIns="0" bIns="0" rtlCol="0">
            <a:spAutoFit/>
          </a:bodyPr>
          <a:lstStyle/>
          <a:p>
            <a:pPr marL="811530" marR="803275" indent="408305">
              <a:lnSpc>
                <a:spcPct val="100000"/>
              </a:lnSpc>
              <a:spcBef>
                <a:spcPts val="1660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Output: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88,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1020,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endParaRPr sz="2800">
              <a:latin typeface="Calibri"/>
              <a:cs typeface="Calibri"/>
            </a:endParaRPr>
          </a:p>
          <a:p>
            <a:pPr marL="72136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1020,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1032,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 88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65884"/>
            <a:ext cx="10360025" cy="255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Dereferencing</a:t>
            </a:r>
            <a:r>
              <a:rPr sz="2400" b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(Don’t</a:t>
            </a:r>
            <a:r>
              <a:rPr sz="24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get</a:t>
            </a:r>
            <a:r>
              <a:rPr sz="24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confused)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4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declaration</a:t>
            </a:r>
            <a:r>
              <a:rPr sz="2400" spc="-9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reflects</a:t>
            </a:r>
            <a:r>
              <a:rPr sz="2400" spc="-6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only</a:t>
            </a:r>
            <a:r>
              <a:rPr sz="2400" spc="-7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</a:t>
            </a:r>
            <a:r>
              <a:rPr sz="2400" spc="-7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variable: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400" b="1" dirty="0">
                <a:solidFill>
                  <a:srgbClr val="160C5C"/>
                </a:solidFill>
                <a:latin typeface="Courier New"/>
                <a:cs typeface="Courier New"/>
              </a:rPr>
              <a:t>int</a:t>
            </a:r>
            <a:r>
              <a:rPr sz="2400" b="1" spc="-15" dirty="0">
                <a:solidFill>
                  <a:srgbClr val="160C5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160C5C"/>
                </a:solidFill>
                <a:latin typeface="Courier New"/>
                <a:cs typeface="Courier New"/>
              </a:rPr>
              <a:t>*ptr;</a:t>
            </a:r>
            <a:endParaRPr sz="2400">
              <a:latin typeface="Courier New"/>
              <a:cs typeface="Courier New"/>
            </a:endParaRPr>
          </a:p>
          <a:p>
            <a:pPr marL="240029" marR="5080" indent="-227329">
              <a:lnSpc>
                <a:spcPct val="7000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Don’t</a:t>
            </a:r>
            <a:r>
              <a:rPr sz="2400" spc="19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mix</a:t>
            </a:r>
            <a:r>
              <a:rPr sz="2400" spc="20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dereferencing</a:t>
            </a:r>
            <a:r>
              <a:rPr sz="2400" spc="20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operator</a:t>
            </a:r>
            <a:r>
              <a:rPr sz="2400" spc="19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with</a:t>
            </a:r>
            <a:r>
              <a:rPr sz="2400" spc="19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pointer</a:t>
            </a:r>
            <a:r>
              <a:rPr sz="2400" spc="204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because</a:t>
            </a:r>
            <a:r>
              <a:rPr sz="2400" spc="20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in</a:t>
            </a:r>
            <a:r>
              <a:rPr sz="2400" spc="19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both</a:t>
            </a:r>
            <a:r>
              <a:rPr sz="2400" spc="19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we</a:t>
            </a:r>
            <a:r>
              <a:rPr sz="2400" spc="20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use</a:t>
            </a:r>
            <a:r>
              <a:rPr sz="2400" spc="20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asterisk 	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(*).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Both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are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60C5C"/>
                </a:solidFill>
                <a:latin typeface="Calibri"/>
                <a:cs typeface="Calibri"/>
              </a:rPr>
              <a:t>different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and</a:t>
            </a:r>
            <a:r>
              <a:rPr sz="2400" spc="-4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not</a:t>
            </a:r>
            <a:r>
              <a:rPr sz="2400" spc="-4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same.</a:t>
            </a:r>
            <a:r>
              <a:rPr sz="2400" spc="-60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Please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see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0C5C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example</a:t>
            </a:r>
            <a:r>
              <a:rPr sz="2400" spc="-55" dirty="0">
                <a:solidFill>
                  <a:srgbClr val="160C5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0C5C"/>
                </a:solidFill>
                <a:latin typeface="Calibri"/>
                <a:cs typeface="Calibri"/>
              </a:rPr>
              <a:t>below:</a:t>
            </a:r>
            <a:endParaRPr sz="2400">
              <a:latin typeface="Calibri"/>
              <a:cs typeface="Calibri"/>
            </a:endParaRPr>
          </a:p>
          <a:p>
            <a:pPr marL="927100" marR="4312920">
              <a:lnSpc>
                <a:spcPts val="3010"/>
              </a:lnSpc>
              <a:spcBef>
                <a:spcPts val="65"/>
              </a:spcBef>
            </a:pP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100,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88,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8; </a:t>
            </a: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*p1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&amp;a,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*p2,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*p3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5" dirty="0">
                <a:latin typeface="Courier New"/>
                <a:cs typeface="Courier New"/>
              </a:rPr>
              <a:t> &amp;c;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1594" y="3914647"/>
            <a:ext cx="1487170" cy="115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p2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&amp;b;</a:t>
            </a:r>
            <a:endParaRPr sz="2400">
              <a:latin typeface="Courier New"/>
              <a:cs typeface="Courier New"/>
            </a:endParaRPr>
          </a:p>
          <a:p>
            <a:pPr marL="12700" marR="5080">
              <a:lnSpc>
                <a:spcPct val="104600"/>
              </a:lnSpc>
              <a:spcBef>
                <a:spcPts val="10"/>
              </a:spcBef>
            </a:pPr>
            <a:r>
              <a:rPr sz="2400" b="1" dirty="0">
                <a:latin typeface="Courier New"/>
                <a:cs typeface="Courier New"/>
              </a:rPr>
              <a:t>p2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p1;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 </a:t>
            </a:r>
            <a:r>
              <a:rPr sz="2400" b="1" spc="-20" dirty="0">
                <a:latin typeface="Courier New"/>
                <a:cs typeface="Courier New"/>
              </a:rPr>
              <a:t>*p3;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0394" y="3914647"/>
            <a:ext cx="3128645" cy="115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//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p2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points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60" dirty="0">
                <a:latin typeface="Courier New"/>
                <a:cs typeface="Courier New"/>
              </a:rPr>
              <a:t>b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400" b="1" dirty="0">
                <a:latin typeface="Courier New"/>
                <a:cs typeface="Courier New"/>
              </a:rPr>
              <a:t>//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p2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points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60" dirty="0">
                <a:latin typeface="Courier New"/>
                <a:cs typeface="Courier New"/>
              </a:rPr>
              <a:t>a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b="1" dirty="0">
                <a:latin typeface="Courier New"/>
                <a:cs typeface="Courier New"/>
              </a:rPr>
              <a:t>//assign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b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1594" y="5042611"/>
            <a:ext cx="4594860" cy="80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*p2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*p3;//assign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a </a:t>
            </a:r>
            <a:r>
              <a:rPr sz="2400" b="1" dirty="0">
                <a:latin typeface="Courier New"/>
                <a:cs typeface="Courier New"/>
              </a:rPr>
              <a:t>cout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&lt;&lt;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&lt;&lt;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&lt;&lt;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c;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99936"/>
            <a:ext cx="7692390" cy="464693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Example</a:t>
            </a:r>
            <a:r>
              <a:rPr sz="2800" b="1" spc="-1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(Traditional)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b="1" dirty="0">
                <a:latin typeface="Courier New"/>
                <a:cs typeface="Courier New"/>
              </a:rPr>
              <a:t>void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IndirectSwap(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char</a:t>
            </a:r>
            <a:r>
              <a:rPr sz="2400" b="1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*Ptr1</a:t>
            </a:r>
            <a:r>
              <a:rPr sz="2400" b="1" dirty="0">
                <a:latin typeface="Courier New"/>
                <a:cs typeface="Courier New"/>
              </a:rPr>
              <a:t>,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char</a:t>
            </a:r>
            <a:r>
              <a:rPr sz="2400" b="1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ourier New"/>
                <a:cs typeface="Courier New"/>
              </a:rPr>
              <a:t>*Ptr2</a:t>
            </a:r>
            <a:r>
              <a:rPr sz="2400" b="1" spc="-10" dirty="0">
                <a:latin typeface="Courier New"/>
                <a:cs typeface="Courier New"/>
              </a:rPr>
              <a:t>){</a:t>
            </a:r>
            <a:endParaRPr sz="2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0"/>
              </a:spcBef>
            </a:pPr>
            <a:r>
              <a:rPr sz="2000" b="1" dirty="0">
                <a:latin typeface="Courier New"/>
                <a:cs typeface="Courier New"/>
              </a:rPr>
              <a:t>char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temp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*Ptr1;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2000" b="1" dirty="0">
                <a:latin typeface="Courier New"/>
                <a:cs typeface="Courier New"/>
              </a:rPr>
              <a:t>*Ptr1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*Ptr2;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0"/>
              </a:spcBef>
            </a:pPr>
            <a:r>
              <a:rPr sz="2000" b="1" dirty="0">
                <a:latin typeface="Courier New"/>
                <a:cs typeface="Courier New"/>
              </a:rPr>
              <a:t>*Ptr2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temp;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469900" marR="5233670" indent="-457834">
              <a:lnSpc>
                <a:spcPct val="101200"/>
              </a:lnSpc>
              <a:spcBef>
                <a:spcPts val="390"/>
              </a:spcBef>
            </a:pP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main()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{ </a:t>
            </a:r>
            <a:r>
              <a:rPr sz="2000" b="1" dirty="0">
                <a:latin typeface="Courier New"/>
                <a:cs typeface="Courier New"/>
              </a:rPr>
              <a:t>char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20" dirty="0">
                <a:latin typeface="Courier New"/>
                <a:cs typeface="Courier New"/>
              </a:rPr>
              <a:t>'y'; </a:t>
            </a:r>
            <a:r>
              <a:rPr sz="2000" b="1" dirty="0">
                <a:latin typeface="Courier New"/>
                <a:cs typeface="Courier New"/>
              </a:rPr>
              <a:t>char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b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20" dirty="0">
                <a:latin typeface="Courier New"/>
                <a:cs typeface="Courier New"/>
              </a:rPr>
              <a:t>'n';</a:t>
            </a:r>
            <a:endParaRPr sz="2000">
              <a:latin typeface="Courier New"/>
              <a:cs typeface="Courier New"/>
            </a:endParaRPr>
          </a:p>
          <a:p>
            <a:pPr marL="469900" marR="3707765">
              <a:lnSpc>
                <a:spcPct val="100699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IndirectSwap(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&amp;a</a:t>
            </a:r>
            <a:r>
              <a:rPr sz="2000" b="1" dirty="0">
                <a:latin typeface="Courier New"/>
                <a:cs typeface="Courier New"/>
              </a:rPr>
              <a:t>,</a:t>
            </a:r>
            <a:r>
              <a:rPr sz="2000" b="1" spc="-75" dirty="0">
                <a:latin typeface="Courier New"/>
                <a:cs typeface="Courier New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ourier New"/>
                <a:cs typeface="Courier New"/>
              </a:rPr>
              <a:t>&amp;b</a:t>
            </a:r>
            <a:r>
              <a:rPr sz="2000" b="1" spc="-20" dirty="0">
                <a:latin typeface="Courier New"/>
                <a:cs typeface="Courier New"/>
              </a:rPr>
              <a:t>); </a:t>
            </a:r>
            <a:r>
              <a:rPr sz="2000" b="1" dirty="0">
                <a:latin typeface="Courier New"/>
                <a:cs typeface="Courier New"/>
              </a:rPr>
              <a:t>cout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&lt;&lt;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&lt;&lt;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b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&lt;&lt;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endl; </a:t>
            </a: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0;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775"/>
              </a:spcBef>
            </a:pPr>
            <a:r>
              <a:rPr dirty="0"/>
              <a:t>Notable</a:t>
            </a:r>
            <a:r>
              <a:rPr spc="-114" dirty="0"/>
              <a:t> </a:t>
            </a:r>
            <a:r>
              <a:rPr spc="-10" dirty="0"/>
              <a:t>Points</a:t>
            </a:r>
          </a:p>
          <a:p>
            <a:pPr marL="241300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935" algn="l"/>
              </a:tabLst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stored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memory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at</a:t>
            </a:r>
            <a:r>
              <a:rPr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specific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memory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location.</a:t>
            </a:r>
          </a:p>
          <a:p>
            <a:pPr marL="241300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Each</a:t>
            </a:r>
            <a:r>
              <a:rPr b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memory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location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has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unique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address.</a:t>
            </a:r>
          </a:p>
          <a:p>
            <a:pPr marL="241300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935" algn="l"/>
              </a:tabLst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pointer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holds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memory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address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variable.</a:t>
            </a:r>
          </a:p>
          <a:p>
            <a:pPr marL="241300" marR="5080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3204" algn="l"/>
                <a:tab pos="1686560" algn="l"/>
                <a:tab pos="2248535" algn="l"/>
                <a:tab pos="2727325" algn="l"/>
                <a:tab pos="4462145" algn="l"/>
                <a:tab pos="5940425" algn="l"/>
                <a:tab pos="7277100" algn="l"/>
                <a:tab pos="7872730" algn="l"/>
                <a:tab pos="8507095" algn="l"/>
                <a:tab pos="10035540" algn="l"/>
              </a:tabLst>
            </a:pPr>
            <a:r>
              <a:rPr b="0" spc="-10" dirty="0">
                <a:solidFill>
                  <a:srgbClr val="00AFEF"/>
                </a:solidFill>
                <a:latin typeface="Calibri"/>
                <a:cs typeface="Calibri"/>
              </a:rPr>
              <a:t>Asterisks</a:t>
            </a:r>
            <a:r>
              <a:rPr b="0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00AFEF"/>
                </a:solidFill>
                <a:latin typeface="Calibri"/>
                <a:cs typeface="Calibri"/>
              </a:rPr>
              <a:t>(*)</a:t>
            </a:r>
            <a:r>
              <a:rPr b="0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00AFEF"/>
                </a:solidFill>
                <a:latin typeface="Calibri"/>
                <a:cs typeface="Calibri"/>
              </a:rPr>
              <a:t>or</a:t>
            </a:r>
            <a:r>
              <a:rPr b="0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00AFEF"/>
                </a:solidFill>
                <a:latin typeface="Calibri"/>
                <a:cs typeface="Calibri"/>
              </a:rPr>
              <a:t>Indirection</a:t>
            </a:r>
            <a:r>
              <a:rPr b="0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00AFEF"/>
                </a:solidFill>
                <a:latin typeface="Calibri"/>
                <a:cs typeface="Calibri"/>
              </a:rPr>
              <a:t>Operator</a:t>
            </a:r>
            <a:r>
              <a:rPr b="0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denotes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accessing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or 	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storing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value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address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pointer.</a:t>
            </a:r>
          </a:p>
          <a:p>
            <a:pPr marL="241300" marR="762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3204" algn="l"/>
                <a:tab pos="2070100" algn="l"/>
                <a:tab pos="2437765" algn="l"/>
                <a:tab pos="2704465" algn="l"/>
                <a:tab pos="4045585" algn="l"/>
                <a:tab pos="4646295" algn="l"/>
                <a:tab pos="5285105" algn="l"/>
                <a:tab pos="6817995" algn="l"/>
                <a:tab pos="7303134" algn="l"/>
                <a:tab pos="8472170" algn="l"/>
                <a:tab pos="9128760" algn="l"/>
              </a:tabLst>
            </a:pPr>
            <a:r>
              <a:rPr b="0" spc="-10" dirty="0">
                <a:solidFill>
                  <a:srgbClr val="00AFEF"/>
                </a:solidFill>
                <a:latin typeface="Calibri"/>
                <a:cs typeface="Calibri"/>
              </a:rPr>
              <a:t>Ampersand</a:t>
            </a:r>
            <a:r>
              <a:rPr b="0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00AFEF"/>
                </a:solidFill>
                <a:latin typeface="Calibri"/>
                <a:cs typeface="Calibri"/>
              </a:rPr>
              <a:t>(&amp;)</a:t>
            </a:r>
            <a:r>
              <a:rPr b="0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denotes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accessing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storing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memory 	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address</a:t>
            </a:r>
            <a:r>
              <a:rPr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pointer.</a:t>
            </a:r>
          </a:p>
          <a:p>
            <a:pPr marL="241300" marR="508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3204" algn="l"/>
              </a:tabLst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If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any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pointer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knows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address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any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memory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address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It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easily 	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change</a:t>
            </a:r>
            <a:r>
              <a:rPr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its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value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b="0" dirty="0">
                <a:solidFill>
                  <a:srgbClr val="00AFEF"/>
                </a:solidFill>
                <a:latin typeface="Calibri"/>
                <a:cs typeface="Calibri"/>
              </a:rPr>
              <a:t>Virus</a:t>
            </a:r>
            <a:r>
              <a:rPr b="0" spc="-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AFEF"/>
                </a:solidFill>
                <a:latin typeface="Calibri"/>
                <a:cs typeface="Calibri"/>
              </a:rPr>
              <a:t>Concept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070465" cy="386334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Memory:</a:t>
            </a:r>
            <a:r>
              <a:rPr sz="28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Bits</a:t>
            </a:r>
            <a:r>
              <a:rPr sz="28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AF50"/>
                </a:solidFill>
                <a:latin typeface="Calibri"/>
                <a:cs typeface="Calibri"/>
              </a:rPr>
              <a:t>Bytes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Memory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further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 	</a:t>
            </a:r>
            <a:r>
              <a:rPr sz="2800" spc="-10" dirty="0">
                <a:latin typeface="Calibri"/>
                <a:cs typeface="Calibri"/>
              </a:rPr>
              <a:t>bits.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1.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-20" dirty="0">
                <a:latin typeface="Calibri"/>
                <a:cs typeface="Calibri"/>
              </a:rPr>
              <a:t> bits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hold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255.</a:t>
            </a:r>
            <a:endParaRPr sz="2800">
              <a:latin typeface="Calibri"/>
              <a:cs typeface="Calibri"/>
            </a:endParaRPr>
          </a:p>
          <a:p>
            <a:pPr marL="240029" marR="542925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Memory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thought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 	</a:t>
            </a:r>
            <a:r>
              <a:rPr sz="2800" dirty="0">
                <a:latin typeface="Calibri"/>
                <a:cs typeface="Calibri"/>
              </a:rPr>
              <a:t>starting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0.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88338" y="5960021"/>
          <a:ext cx="8128000" cy="37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●●●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113407" y="6426555"/>
          <a:ext cx="6275070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7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92463"/>
            <a:ext cx="7322184" cy="50514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Memory:</a:t>
            </a:r>
            <a:r>
              <a:rPr sz="2800" b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8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Allocation</a:t>
            </a:r>
            <a:endParaRPr sz="2800">
              <a:latin typeface="Calibri"/>
              <a:cs typeface="Calibri"/>
            </a:endParaRPr>
          </a:p>
          <a:p>
            <a:pPr marL="12700" marR="3547110" indent="227329">
              <a:lnSpc>
                <a:spcPts val="3700"/>
              </a:lnSpc>
              <a:spcBef>
                <a:spcPts val="1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After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declaring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pointer </a:t>
            </a:r>
            <a:r>
              <a:rPr sz="2800" dirty="0">
                <a:latin typeface="Calibri"/>
                <a:cs typeface="Calibri"/>
              </a:rPr>
              <a:t>int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*ptr;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2690"/>
              </a:lnSpc>
              <a:spcBef>
                <a:spcPts val="790"/>
              </a:spcBef>
              <a:tabLst>
                <a:tab pos="567055" algn="l"/>
                <a:tab pos="3024505" algn="l"/>
                <a:tab pos="5855970" algn="l"/>
              </a:tabLst>
            </a:pPr>
            <a:r>
              <a:rPr sz="2800" spc="-25" dirty="0">
                <a:latin typeface="Calibri"/>
                <a:cs typeface="Calibri"/>
              </a:rPr>
              <a:t>ptr</a:t>
            </a:r>
            <a:r>
              <a:rPr sz="2800" dirty="0">
                <a:latin typeface="Calibri"/>
                <a:cs typeface="Calibri"/>
              </a:rPr>
              <a:t>	doesn’t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actually</a:t>
            </a:r>
            <a:r>
              <a:rPr sz="2800" dirty="0">
                <a:latin typeface="Calibri"/>
                <a:cs typeface="Calibri"/>
              </a:rPr>
              <a:t>	points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anything</a:t>
            </a:r>
            <a:r>
              <a:rPr sz="2800" dirty="0">
                <a:latin typeface="Calibri"/>
                <a:cs typeface="Calibri"/>
              </a:rPr>
              <a:t>	yet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memory.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NULL.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either:</a:t>
            </a:r>
            <a:endParaRPr sz="2800">
              <a:latin typeface="Calibri"/>
              <a:cs typeface="Calibri"/>
            </a:endParaRPr>
          </a:p>
          <a:p>
            <a:pPr marL="1407160" marR="5715" indent="-516890">
              <a:lnSpc>
                <a:spcPct val="109600"/>
              </a:lnSpc>
              <a:spcBef>
                <a:spcPts val="15"/>
              </a:spcBef>
            </a:pPr>
            <a:r>
              <a:rPr sz="2800" dirty="0">
                <a:latin typeface="Calibri"/>
                <a:cs typeface="Calibri"/>
              </a:rPr>
              <a:t>make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something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already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exists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like: </a:t>
            </a:r>
            <a:r>
              <a:rPr sz="2800" dirty="0">
                <a:latin typeface="Calibri"/>
                <a:cs typeface="Calibri"/>
              </a:rPr>
              <a:t>ptr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&amp;c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//let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suppose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c=10;</a:t>
            </a:r>
            <a:endParaRPr sz="2800">
              <a:latin typeface="Calibri"/>
              <a:cs typeface="Calibri"/>
            </a:endParaRPr>
          </a:p>
          <a:p>
            <a:pPr marL="3505835">
              <a:lnSpc>
                <a:spcPct val="100000"/>
              </a:lnSpc>
              <a:spcBef>
                <a:spcPts val="325"/>
              </a:spcBef>
            </a:pPr>
            <a:r>
              <a:rPr sz="2800" spc="-25" dirty="0">
                <a:latin typeface="Calibri"/>
                <a:cs typeface="Calibri"/>
              </a:rPr>
              <a:t>or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latin typeface="Calibri"/>
                <a:cs typeface="Calibri"/>
              </a:rPr>
              <a:t>allocate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memory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something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30"/>
              </a:spcBef>
            </a:pPr>
            <a:r>
              <a:rPr sz="2800" dirty="0">
                <a:latin typeface="Calibri"/>
                <a:cs typeface="Calibri"/>
              </a:rPr>
              <a:t>new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too…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345803" y="709548"/>
          <a:ext cx="1474470" cy="2962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4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ptr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NULL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711438" y="803909"/>
          <a:ext cx="554990" cy="2823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pPr marR="20320" algn="ctr">
                        <a:lnSpc>
                          <a:spcPts val="171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1044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27940" algn="ctr">
                        <a:lnSpc>
                          <a:spcPts val="215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345803" y="3782695"/>
          <a:ext cx="1474470" cy="296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4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ptr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1036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711438" y="3877817"/>
          <a:ext cx="554990" cy="2823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pPr marR="20320" algn="ctr">
                        <a:lnSpc>
                          <a:spcPts val="171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1044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27940" algn="ctr">
                        <a:lnSpc>
                          <a:spcPts val="215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81833"/>
            <a:ext cx="7954645" cy="46272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Memory:</a:t>
            </a:r>
            <a:r>
              <a:rPr sz="2800" b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8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Allocation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Pointing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something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already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exists: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1841500" marR="1635760">
              <a:lnSpc>
                <a:spcPct val="119700"/>
              </a:lnSpc>
              <a:spcBef>
                <a:spcPts val="5"/>
              </a:spcBef>
            </a:pPr>
            <a:r>
              <a:rPr sz="2800" dirty="0">
                <a:latin typeface="Courier New"/>
                <a:cs typeface="Courier New"/>
              </a:rPr>
              <a:t>int</a:t>
            </a:r>
            <a:r>
              <a:rPr sz="2800" spc="-30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*ptr,</a:t>
            </a:r>
            <a:r>
              <a:rPr sz="2800" spc="-30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var1,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var2; </a:t>
            </a:r>
            <a:r>
              <a:rPr sz="2800" dirty="0">
                <a:latin typeface="Courier New"/>
                <a:cs typeface="Courier New"/>
              </a:rPr>
              <a:t>var1</a:t>
            </a:r>
            <a:r>
              <a:rPr sz="2800" spc="-3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=</a:t>
            </a:r>
            <a:r>
              <a:rPr sz="2800" spc="-10" dirty="0">
                <a:latin typeface="Courier New"/>
                <a:cs typeface="Courier New"/>
              </a:rPr>
              <a:t> </a:t>
            </a:r>
            <a:r>
              <a:rPr sz="2800" spc="-25" dirty="0">
                <a:latin typeface="Courier New"/>
                <a:cs typeface="Courier New"/>
              </a:rPr>
              <a:t>5;</a:t>
            </a:r>
            <a:endParaRPr sz="2800">
              <a:latin typeface="Courier New"/>
              <a:cs typeface="Courier New"/>
            </a:endParaRPr>
          </a:p>
          <a:p>
            <a:pPr marL="1841500" marR="3125470">
              <a:lnSpc>
                <a:spcPts val="4029"/>
              </a:lnSpc>
              <a:spcBef>
                <a:spcPts val="235"/>
              </a:spcBef>
              <a:tabLst>
                <a:tab pos="3119120" algn="l"/>
              </a:tabLst>
            </a:pPr>
            <a:r>
              <a:rPr sz="2800" spc="-25" dirty="0">
                <a:latin typeface="Courier New"/>
                <a:cs typeface="Courier New"/>
              </a:rPr>
              <a:t>ptr</a:t>
            </a:r>
            <a:r>
              <a:rPr sz="2800" dirty="0">
                <a:latin typeface="Courier New"/>
                <a:cs typeface="Courier New"/>
              </a:rPr>
              <a:t>	=</a:t>
            </a:r>
            <a:r>
              <a:rPr sz="2800" spc="-1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&amp;var1; </a:t>
            </a:r>
            <a:r>
              <a:rPr sz="2800" dirty="0">
                <a:latin typeface="Courier New"/>
                <a:cs typeface="Courier New"/>
              </a:rPr>
              <a:t>var2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=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spc="-20" dirty="0">
                <a:latin typeface="Courier New"/>
                <a:cs typeface="Courier New"/>
              </a:rPr>
              <a:t>*ptr;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8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var1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var2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implicitly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allocated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them.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2591" y="4121995"/>
            <a:ext cx="5086725" cy="6335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11020"/>
            <a:ext cx="10245725" cy="5020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Memory:</a:t>
            </a:r>
            <a:r>
              <a:rPr sz="26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6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AF50"/>
                </a:solidFill>
                <a:latin typeface="Calibri"/>
                <a:cs typeface="Calibri"/>
              </a:rPr>
              <a:t>Dangers</a:t>
            </a:r>
            <a:endParaRPr sz="2600">
              <a:latin typeface="Calibri"/>
              <a:cs typeface="Calibri"/>
            </a:endParaRPr>
          </a:p>
          <a:p>
            <a:pPr marL="241300" marR="434975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Declaring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pointer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just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allocates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space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hold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pointer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not </a:t>
            </a:r>
            <a:r>
              <a:rPr sz="2600" dirty="0">
                <a:latin typeface="Calibri"/>
                <a:cs typeface="Calibri"/>
              </a:rPr>
              <a:t>allocate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something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pointed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to!</a:t>
            </a:r>
            <a:endParaRPr sz="26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0"/>
              </a:spcBef>
            </a:pP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Thus,</a:t>
            </a:r>
            <a:r>
              <a:rPr sz="2600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the</a:t>
            </a:r>
            <a:r>
              <a:rPr sz="2600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address</a:t>
            </a:r>
            <a:r>
              <a:rPr sz="2600" spc="-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is</a:t>
            </a:r>
            <a:r>
              <a:rPr sz="2600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AFEF"/>
                </a:solidFill>
                <a:latin typeface="Calibri"/>
                <a:cs typeface="Calibri"/>
              </a:rPr>
              <a:t>NULL.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What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following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do?</a:t>
            </a:r>
            <a:endParaRPr sz="2600">
              <a:latin typeface="Calibri"/>
              <a:cs typeface="Calibri"/>
            </a:endParaRPr>
          </a:p>
          <a:p>
            <a:pPr marL="12700" marR="5080">
              <a:lnSpc>
                <a:spcPct val="70100"/>
              </a:lnSpc>
              <a:spcBef>
                <a:spcPts val="990"/>
              </a:spcBef>
              <a:tabLst>
                <a:tab pos="626745" algn="l"/>
                <a:tab pos="1454150" algn="l"/>
                <a:tab pos="2304415" algn="l"/>
                <a:tab pos="3638550" algn="l"/>
                <a:tab pos="4054475" algn="l"/>
                <a:tab pos="4668520" algn="l"/>
                <a:tab pos="5839460" algn="l"/>
                <a:tab pos="6621145" algn="l"/>
                <a:tab pos="7633334" algn="l"/>
                <a:tab pos="8208009" algn="l"/>
                <a:tab pos="9500235" algn="l"/>
              </a:tabLst>
            </a:pPr>
            <a:r>
              <a:rPr sz="2600" spc="-25" dirty="0">
                <a:latin typeface="Calibri"/>
                <a:cs typeface="Calibri"/>
              </a:rPr>
              <a:t>We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0" dirty="0">
                <a:latin typeface="Calibri"/>
                <a:cs typeface="Calibri"/>
              </a:rPr>
              <a:t>can’t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0" dirty="0">
                <a:latin typeface="Calibri"/>
                <a:cs typeface="Calibri"/>
              </a:rPr>
              <a:t>store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anything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in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the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b="1" spc="-10" dirty="0">
                <a:solidFill>
                  <a:srgbClr val="00AFEF"/>
                </a:solidFill>
                <a:latin typeface="Calibri"/>
                <a:cs typeface="Calibri"/>
              </a:rPr>
              <a:t>pointer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sz="2600" b="1" spc="-10" dirty="0">
                <a:solidFill>
                  <a:srgbClr val="00AFEF"/>
                </a:solidFill>
                <a:latin typeface="Calibri"/>
                <a:cs typeface="Calibri"/>
              </a:rPr>
              <a:t>(ptr)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unless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b="1" spc="-25" dirty="0">
                <a:solidFill>
                  <a:srgbClr val="00AFEF"/>
                </a:solidFill>
                <a:latin typeface="Calibri"/>
                <a:cs typeface="Calibri"/>
              </a:rPr>
              <a:t>ptr</a:t>
            </a:r>
            <a:r>
              <a:rPr sz="2600" b="1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contains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0" dirty="0">
                <a:latin typeface="Calibri"/>
                <a:cs typeface="Calibri"/>
              </a:rPr>
              <a:t>some </a:t>
            </a:r>
            <a:r>
              <a:rPr sz="2600" spc="-10" dirty="0">
                <a:latin typeface="Calibri"/>
                <a:cs typeface="Calibri"/>
              </a:rPr>
              <a:t>address.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600" dirty="0">
                <a:latin typeface="Courier New"/>
                <a:cs typeface="Courier New"/>
              </a:rPr>
              <a:t>void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f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()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2600" spc="-50" dirty="0">
                <a:latin typeface="Courier New"/>
                <a:cs typeface="Courier New"/>
              </a:rPr>
              <a:t>{</a:t>
            </a:r>
            <a:endParaRPr sz="26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60"/>
              </a:spcBef>
            </a:pPr>
            <a:r>
              <a:rPr sz="2600" dirty="0">
                <a:latin typeface="Courier New"/>
                <a:cs typeface="Courier New"/>
              </a:rPr>
              <a:t>int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*ptr;</a:t>
            </a:r>
            <a:endParaRPr sz="26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70"/>
              </a:spcBef>
            </a:pPr>
            <a:r>
              <a:rPr sz="2600" dirty="0">
                <a:latin typeface="Courier New"/>
                <a:cs typeface="Courier New"/>
              </a:rPr>
              <a:t>*ptr</a:t>
            </a:r>
            <a:r>
              <a:rPr sz="2600" spc="-25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= </a:t>
            </a:r>
            <a:r>
              <a:rPr sz="2600" spc="-35" dirty="0">
                <a:latin typeface="Courier New"/>
                <a:cs typeface="Courier New"/>
              </a:rPr>
              <a:t>5;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ourier New"/>
                <a:cs typeface="Courier New"/>
              </a:rPr>
              <a:t>}</a:t>
            </a:r>
            <a:endParaRPr sz="2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357485" cy="37369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1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Arithmetic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pointer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incremented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decremented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(only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pointer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incremented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decremented).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integer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b="1" dirty="0">
                <a:solidFill>
                  <a:srgbClr val="00AFEF"/>
                </a:solidFill>
                <a:latin typeface="Calibri"/>
                <a:cs typeface="Calibri"/>
              </a:rPr>
              <a:t>can</a:t>
            </a:r>
            <a:r>
              <a:rPr sz="2800" b="1" spc="2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EF"/>
                </a:solidFill>
                <a:latin typeface="Calibri"/>
                <a:cs typeface="Calibri"/>
              </a:rPr>
              <a:t>be</a:t>
            </a:r>
            <a:r>
              <a:rPr sz="2800" b="1" spc="2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EF"/>
                </a:solidFill>
                <a:latin typeface="Calibri"/>
                <a:cs typeface="Calibri"/>
              </a:rPr>
              <a:t>constant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added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subtracted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spc="-10" dirty="0">
                <a:latin typeface="Calibri"/>
                <a:cs typeface="Calibri"/>
              </a:rPr>
              <a:t>pointer.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Pointer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variables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subtracted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another.</a:t>
            </a:r>
            <a:endParaRPr sz="2800">
              <a:latin typeface="Calibri"/>
              <a:cs typeface="Calibri"/>
            </a:endParaRPr>
          </a:p>
          <a:p>
            <a:pPr marL="240029" marR="635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  <a:tab pos="1417955" algn="l"/>
                <a:tab pos="2835275" algn="l"/>
                <a:tab pos="3474085" algn="l"/>
                <a:tab pos="3972560" algn="l"/>
                <a:tab pos="4795520" algn="l"/>
                <a:tab pos="5196205" algn="l"/>
                <a:tab pos="7255509" algn="l"/>
                <a:tab pos="7882890" algn="l"/>
                <a:tab pos="9023350" algn="l"/>
                <a:tab pos="9772015" algn="l"/>
                <a:tab pos="10172700" algn="l"/>
              </a:tabLst>
            </a:pPr>
            <a:r>
              <a:rPr sz="2800" spc="-10" dirty="0">
                <a:latin typeface="Calibri"/>
                <a:cs typeface="Calibri"/>
              </a:rPr>
              <a:t>Pointer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variables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used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comparisons,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but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usually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only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comparison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variables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NULL.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547"/>
            <a:ext cx="10360660" cy="46513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1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Arithmetic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integer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EF"/>
                </a:solidFill>
                <a:latin typeface="Calibri"/>
                <a:cs typeface="Calibri"/>
              </a:rPr>
              <a:t>(n)</a:t>
            </a:r>
            <a:r>
              <a:rPr sz="2800" b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subtracted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EF"/>
                </a:solidFill>
                <a:latin typeface="Calibri"/>
                <a:cs typeface="Calibri"/>
              </a:rPr>
              <a:t>(ptr)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259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(ptr)</a:t>
            </a:r>
            <a:r>
              <a:rPr sz="2400" b="1" spc="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changed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ptr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plus</a:t>
            </a:r>
            <a:r>
              <a:rPr sz="2400" b="1" spc="9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EF"/>
                </a:solidFill>
                <a:latin typeface="Calibri"/>
                <a:cs typeface="Calibri"/>
              </a:rPr>
              <a:t>(+)</a:t>
            </a:r>
            <a:r>
              <a:rPr sz="2400" b="1" spc="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multiple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555"/>
              </a:lnSpc>
            </a:pPr>
            <a:r>
              <a:rPr sz="2400" dirty="0">
                <a:latin typeface="Calibri"/>
                <a:cs typeface="Calibri"/>
              </a:rPr>
              <a:t>(*)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ptr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type.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ts val="284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ptr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*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(bytes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type)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2800" dirty="0">
                <a:latin typeface="Courier New"/>
                <a:cs typeface="Courier New"/>
              </a:rPr>
              <a:t>int</a:t>
            </a:r>
            <a:r>
              <a:rPr sz="2800" spc="-10" dirty="0">
                <a:latin typeface="Courier New"/>
                <a:cs typeface="Courier New"/>
              </a:rPr>
              <a:t> *ptr=1000;</a:t>
            </a:r>
            <a:endParaRPr sz="2800">
              <a:latin typeface="Courier New"/>
              <a:cs typeface="Courier New"/>
            </a:endParaRPr>
          </a:p>
          <a:p>
            <a:pPr marL="12700" marR="8255">
              <a:lnSpc>
                <a:spcPts val="2700"/>
              </a:lnSpc>
              <a:spcBef>
                <a:spcPts val="1000"/>
              </a:spcBef>
              <a:tabLst>
                <a:tab pos="3215005" algn="l"/>
                <a:tab pos="4519295" algn="l"/>
                <a:tab pos="4925060" algn="l"/>
                <a:tab pos="5735955" algn="l"/>
                <a:tab pos="7143750" algn="l"/>
                <a:tab pos="7633334" algn="l"/>
                <a:tab pos="9259570" algn="l"/>
                <a:tab pos="9622155" algn="l"/>
              </a:tabLst>
            </a:pPr>
            <a:r>
              <a:rPr sz="2800" dirty="0">
                <a:latin typeface="Courier New"/>
                <a:cs typeface="Courier New"/>
              </a:rPr>
              <a:t>ptr=ptr+2;</a:t>
            </a:r>
            <a:r>
              <a:rPr sz="2800" spc="-280" dirty="0">
                <a:latin typeface="Courier New"/>
                <a:cs typeface="Courier New"/>
              </a:rPr>
              <a:t> </a:t>
            </a:r>
            <a:r>
              <a:rPr sz="2800" spc="-20" dirty="0">
                <a:solidFill>
                  <a:srgbClr val="C55A11"/>
                </a:solidFill>
                <a:latin typeface="Calibri"/>
                <a:cs typeface="Calibri"/>
              </a:rPr>
              <a:t>//ptr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C55A11"/>
                </a:solidFill>
                <a:latin typeface="Calibri"/>
                <a:cs typeface="Calibri"/>
              </a:rPr>
              <a:t>address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C55A11"/>
                </a:solidFill>
                <a:latin typeface="Calibri"/>
                <a:cs typeface="Calibri"/>
              </a:rPr>
              <a:t>is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C55A11"/>
                </a:solidFill>
                <a:latin typeface="Calibri"/>
                <a:cs typeface="Calibri"/>
              </a:rPr>
              <a:t>now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C55A11"/>
                </a:solidFill>
                <a:latin typeface="Calibri"/>
                <a:cs typeface="Calibri"/>
              </a:rPr>
              <a:t>changed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C55A11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C55A11"/>
                </a:solidFill>
                <a:latin typeface="Calibri"/>
                <a:cs typeface="Calibri"/>
              </a:rPr>
              <a:t>1000+2*4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sz="2800" spc="-50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sz="2800" spc="-20" dirty="0">
                <a:solidFill>
                  <a:srgbClr val="C55A11"/>
                </a:solidFill>
                <a:latin typeface="Calibri"/>
                <a:cs typeface="Calibri"/>
              </a:rPr>
              <a:t>1008 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where</a:t>
            </a:r>
            <a:r>
              <a:rPr sz="2800" spc="-8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4</a:t>
            </a:r>
            <a:r>
              <a:rPr sz="2800" spc="-7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55A11"/>
                </a:solidFill>
                <a:latin typeface="Calibri"/>
                <a:cs typeface="Calibri"/>
              </a:rPr>
              <a:t>represents</a:t>
            </a:r>
            <a:r>
              <a:rPr sz="2800" spc="-6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the</a:t>
            </a:r>
            <a:r>
              <a:rPr sz="2800" spc="-7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bytes</a:t>
            </a:r>
            <a:r>
              <a:rPr sz="2800" spc="-7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consumed</a:t>
            </a:r>
            <a:r>
              <a:rPr sz="2800" spc="-4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55A11"/>
                </a:solidFill>
                <a:latin typeface="Calibri"/>
                <a:cs typeface="Calibri"/>
              </a:rPr>
              <a:t>by</a:t>
            </a:r>
            <a:r>
              <a:rPr sz="2800" spc="-8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55A11"/>
                </a:solidFill>
                <a:latin typeface="Calibri"/>
                <a:cs typeface="Calibri"/>
              </a:rPr>
              <a:t>integer.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7329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Pointer</a:t>
            </a:r>
            <a:r>
              <a:rPr spc="-130" dirty="0"/>
              <a:t> </a:t>
            </a:r>
            <a:r>
              <a:rPr spc="-10" dirty="0"/>
              <a:t>Arithmetic</a:t>
            </a:r>
          </a:p>
          <a:p>
            <a:pPr marL="13970" marR="7784465">
              <a:lnSpc>
                <a:spcPct val="109100"/>
              </a:lnSpc>
              <a:spcBef>
                <a:spcPts val="20"/>
              </a:spcBef>
            </a:pP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Examples </a:t>
            </a:r>
            <a:r>
              <a:rPr b="0" dirty="0">
                <a:solidFill>
                  <a:srgbClr val="000000"/>
                </a:solidFill>
                <a:latin typeface="Courier New"/>
                <a:cs typeface="Courier New"/>
              </a:rPr>
              <a:t>double</a:t>
            </a:r>
            <a:r>
              <a:rPr b="0" spc="-4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*ptr; ptr=1000;</a:t>
            </a:r>
          </a:p>
          <a:p>
            <a:pPr marL="13970" marR="5080">
              <a:lnSpc>
                <a:spcPts val="2700"/>
              </a:lnSpc>
              <a:spcBef>
                <a:spcPts val="1000"/>
              </a:spcBef>
              <a:tabLst>
                <a:tab pos="2252980" algn="l"/>
                <a:tab pos="3502025" algn="l"/>
                <a:tab pos="3852545" algn="l"/>
                <a:tab pos="4609465" algn="l"/>
                <a:tab pos="5960110" algn="l"/>
                <a:tab pos="6394450" algn="l"/>
                <a:tab pos="7964170" algn="l"/>
                <a:tab pos="8270875" algn="l"/>
                <a:tab pos="9126220" algn="l"/>
                <a:tab pos="10168255" algn="l"/>
              </a:tabLst>
            </a:pP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ptr++;</a:t>
            </a:r>
            <a:r>
              <a:rPr b="0" spc="-6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//ptr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address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C55A11"/>
                </a:solidFill>
                <a:latin typeface="Calibri"/>
                <a:cs typeface="Calibri"/>
              </a:rPr>
              <a:t>is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C55A11"/>
                </a:solidFill>
                <a:latin typeface="Calibri"/>
                <a:cs typeface="Calibri"/>
              </a:rPr>
              <a:t>now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changed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C55A11"/>
                </a:solidFill>
                <a:latin typeface="Calibri"/>
                <a:cs typeface="Calibri"/>
              </a:rPr>
              <a:t>to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1000+1*8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50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20" dirty="0">
                <a:solidFill>
                  <a:srgbClr val="C55A11"/>
                </a:solidFill>
                <a:latin typeface="Calibri"/>
                <a:cs typeface="Calibri"/>
              </a:rPr>
              <a:t>1008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where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50" dirty="0">
                <a:solidFill>
                  <a:srgbClr val="C55A11"/>
                </a:solidFill>
                <a:latin typeface="Calibri"/>
                <a:cs typeface="Calibri"/>
              </a:rPr>
              <a:t>8 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represents</a:t>
            </a:r>
            <a:r>
              <a:rPr b="0" spc="-7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the</a:t>
            </a:r>
            <a:r>
              <a:rPr b="0" spc="-9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bytes</a:t>
            </a:r>
            <a:r>
              <a:rPr b="0" spc="-8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consumed</a:t>
            </a:r>
            <a:r>
              <a:rPr b="0" spc="-6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by</a:t>
            </a:r>
            <a:r>
              <a:rPr b="0" spc="-9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double.</a:t>
            </a:r>
          </a:p>
          <a:p>
            <a:pPr marL="13970" marR="7997825">
              <a:lnSpc>
                <a:spcPts val="3700"/>
              </a:lnSpc>
              <a:spcBef>
                <a:spcPts val="140"/>
              </a:spcBef>
            </a:pPr>
            <a:r>
              <a:rPr b="0" dirty="0">
                <a:solidFill>
                  <a:srgbClr val="000000"/>
                </a:solidFill>
                <a:latin typeface="Courier New"/>
                <a:cs typeface="Courier New"/>
              </a:rPr>
              <a:t>float</a:t>
            </a:r>
            <a:r>
              <a:rPr b="0" spc="-3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*ptr; ptr=1000;</a:t>
            </a:r>
          </a:p>
          <a:p>
            <a:pPr marL="13970" marR="6350">
              <a:lnSpc>
                <a:spcPts val="2700"/>
              </a:lnSpc>
              <a:spcBef>
                <a:spcPts val="815"/>
              </a:spcBef>
            </a:pP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ptr+=3;</a:t>
            </a:r>
            <a:r>
              <a:rPr b="0" spc="-83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//ptr</a:t>
            </a:r>
            <a:r>
              <a:rPr b="0" spc="1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address</a:t>
            </a:r>
            <a:r>
              <a:rPr b="0" spc="18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is</a:t>
            </a:r>
            <a:r>
              <a:rPr b="0" spc="19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now</a:t>
            </a:r>
            <a:r>
              <a:rPr b="0" spc="18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changed</a:t>
            </a:r>
            <a:r>
              <a:rPr b="0" spc="17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to</a:t>
            </a:r>
            <a:r>
              <a:rPr b="0" spc="18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1000+3*4</a:t>
            </a:r>
            <a:r>
              <a:rPr b="0" spc="19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b="0" spc="18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1012</a:t>
            </a:r>
            <a:r>
              <a:rPr b="0" spc="20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where</a:t>
            </a:r>
            <a:r>
              <a:rPr b="0" spc="19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spc="-50" dirty="0">
                <a:solidFill>
                  <a:srgbClr val="C55A11"/>
                </a:solidFill>
                <a:latin typeface="Calibri"/>
                <a:cs typeface="Calibri"/>
              </a:rPr>
              <a:t>4 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represents</a:t>
            </a:r>
            <a:r>
              <a:rPr b="0" spc="-7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the</a:t>
            </a:r>
            <a:r>
              <a:rPr b="0" spc="-9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bytes</a:t>
            </a:r>
            <a:r>
              <a:rPr b="0" spc="-8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consumed</a:t>
            </a:r>
            <a:r>
              <a:rPr b="0" spc="-6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by</a:t>
            </a:r>
            <a:r>
              <a:rPr b="0" spc="-9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float.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Pointer</a:t>
            </a:r>
            <a:r>
              <a:rPr spc="-130" dirty="0"/>
              <a:t> </a:t>
            </a:r>
            <a:r>
              <a:rPr spc="-10" dirty="0"/>
              <a:t>Arithmetic</a:t>
            </a:r>
          </a:p>
          <a:p>
            <a:pPr marL="13970">
              <a:lnSpc>
                <a:spcPct val="100000"/>
              </a:lnSpc>
              <a:spcBef>
                <a:spcPts val="675"/>
              </a:spcBef>
            </a:pP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Examples</a:t>
            </a:r>
          </a:p>
          <a:p>
            <a:pPr marL="13970">
              <a:lnSpc>
                <a:spcPct val="100000"/>
              </a:lnSpc>
              <a:spcBef>
                <a:spcPts val="590"/>
              </a:spcBef>
            </a:pPr>
            <a:r>
              <a:rPr b="0" dirty="0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 *ptr;</a:t>
            </a:r>
          </a:p>
          <a:p>
            <a:pPr marL="13970" marR="7785100">
              <a:lnSpc>
                <a:spcPct val="119600"/>
              </a:lnSpc>
              <a:spcBef>
                <a:spcPts val="15"/>
              </a:spcBef>
            </a:pPr>
            <a:r>
              <a:rPr b="0" dirty="0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 num1=0; </a:t>
            </a:r>
            <a:r>
              <a:rPr b="0" dirty="0">
                <a:solidFill>
                  <a:srgbClr val="000000"/>
                </a:solidFill>
                <a:latin typeface="Courier New"/>
                <a:cs typeface="Courier New"/>
              </a:rPr>
              <a:t>ptr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0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b="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&amp;num1;</a:t>
            </a:r>
          </a:p>
          <a:p>
            <a:pPr marL="13970" marR="5080">
              <a:lnSpc>
                <a:spcPts val="3050"/>
              </a:lnSpc>
              <a:spcBef>
                <a:spcPts val="1070"/>
              </a:spcBef>
              <a:tabLst>
                <a:tab pos="2252980" algn="l"/>
                <a:tab pos="3502025" algn="l"/>
                <a:tab pos="3852545" algn="l"/>
                <a:tab pos="4609465" algn="l"/>
                <a:tab pos="5960110" algn="l"/>
                <a:tab pos="6394450" algn="l"/>
                <a:tab pos="7964170" algn="l"/>
                <a:tab pos="8270875" algn="l"/>
                <a:tab pos="9126220" algn="l"/>
                <a:tab pos="10168255" algn="l"/>
              </a:tabLst>
            </a:pP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ptr++;</a:t>
            </a:r>
            <a:r>
              <a:rPr b="0" spc="-6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//ptr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address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C55A11"/>
                </a:solidFill>
                <a:latin typeface="Calibri"/>
                <a:cs typeface="Calibri"/>
              </a:rPr>
              <a:t>is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C55A11"/>
                </a:solidFill>
                <a:latin typeface="Calibri"/>
                <a:cs typeface="Calibri"/>
              </a:rPr>
              <a:t>now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changed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25" dirty="0">
                <a:solidFill>
                  <a:srgbClr val="C55A11"/>
                </a:solidFill>
                <a:latin typeface="Calibri"/>
                <a:cs typeface="Calibri"/>
              </a:rPr>
              <a:t>to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1002+1*4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50" dirty="0">
                <a:solidFill>
                  <a:srgbClr val="C55A11"/>
                </a:solidFill>
                <a:latin typeface="Calibri"/>
                <a:cs typeface="Calibri"/>
              </a:rPr>
              <a:t>=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20" dirty="0">
                <a:solidFill>
                  <a:srgbClr val="C55A11"/>
                </a:solidFill>
                <a:latin typeface="Calibri"/>
                <a:cs typeface="Calibri"/>
              </a:rPr>
              <a:t>1004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where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	</a:t>
            </a:r>
            <a:r>
              <a:rPr b="0" spc="-50" dirty="0">
                <a:solidFill>
                  <a:srgbClr val="C55A11"/>
                </a:solidFill>
                <a:latin typeface="Calibri"/>
                <a:cs typeface="Calibri"/>
              </a:rPr>
              <a:t>4 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represents</a:t>
            </a:r>
            <a:r>
              <a:rPr b="0" spc="-7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the</a:t>
            </a:r>
            <a:r>
              <a:rPr b="0" spc="-9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bytes</a:t>
            </a:r>
            <a:r>
              <a:rPr b="0" spc="-8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consumed</a:t>
            </a:r>
            <a:r>
              <a:rPr b="0" spc="-6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C55A11"/>
                </a:solidFill>
                <a:latin typeface="Calibri"/>
                <a:cs typeface="Calibri"/>
              </a:rPr>
              <a:t>by</a:t>
            </a:r>
            <a:r>
              <a:rPr b="0" spc="-9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C55A11"/>
                </a:solidFill>
                <a:latin typeface="Calibri"/>
                <a:cs typeface="Calibri"/>
              </a:rPr>
              <a:t>integer.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72667"/>
            <a:ext cx="9611995" cy="561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11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40" dirty="0">
                <a:latin typeface="Calibri"/>
                <a:cs typeface="Calibri"/>
              </a:rPr>
              <a:t>You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pointer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display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variable’s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perform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any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110"/>
              </a:lnSpc>
            </a:pPr>
            <a:r>
              <a:rPr sz="2200" spc="-10" dirty="0">
                <a:latin typeface="Calibri"/>
                <a:cs typeface="Calibri"/>
              </a:rPr>
              <a:t>operation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you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would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perform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variable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directly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130374"/>
            <a:ext cx="2632075" cy="364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1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#include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&lt;iostream.h&gt;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80"/>
              </a:lnSpc>
            </a:pPr>
            <a:r>
              <a:rPr sz="2200" dirty="0">
                <a:latin typeface="Calibri"/>
                <a:cs typeface="Calibri"/>
              </a:rPr>
              <a:t>int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main()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85"/>
              </a:lnSpc>
            </a:pPr>
            <a:r>
              <a:rPr sz="2200" spc="-50" dirty="0">
                <a:latin typeface="Calibri"/>
                <a:cs typeface="Calibri"/>
              </a:rPr>
              <a:t>{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585"/>
              </a:lnSpc>
            </a:pPr>
            <a:r>
              <a:rPr sz="2200" dirty="0">
                <a:latin typeface="Calibri"/>
                <a:cs typeface="Calibri"/>
              </a:rPr>
              <a:t>int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var1,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var2;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580"/>
              </a:lnSpc>
            </a:pPr>
            <a:r>
              <a:rPr sz="2200" dirty="0">
                <a:latin typeface="Calibri"/>
                <a:cs typeface="Calibri"/>
              </a:rPr>
              <a:t>int*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ptr;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590"/>
              </a:lnSpc>
            </a:pPr>
            <a:r>
              <a:rPr sz="2200" dirty="0">
                <a:latin typeface="Calibri"/>
                <a:cs typeface="Calibri"/>
              </a:rPr>
              <a:t>ptr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&amp;var1;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585"/>
              </a:lnSpc>
            </a:pPr>
            <a:r>
              <a:rPr sz="2200" dirty="0">
                <a:latin typeface="Calibri"/>
                <a:cs typeface="Calibri"/>
              </a:rPr>
              <a:t>*ptr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37;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580"/>
              </a:lnSpc>
            </a:pPr>
            <a:r>
              <a:rPr sz="2200" dirty="0">
                <a:latin typeface="Calibri"/>
                <a:cs typeface="Calibri"/>
              </a:rPr>
              <a:t>var2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0" dirty="0">
                <a:latin typeface="Calibri"/>
                <a:cs typeface="Calibri"/>
              </a:rPr>
              <a:t> *ptr;</a:t>
            </a:r>
            <a:endParaRPr sz="2200">
              <a:latin typeface="Calibri"/>
              <a:cs typeface="Calibri"/>
            </a:endParaRPr>
          </a:p>
          <a:p>
            <a:pPr marL="241300" marR="5080">
              <a:lnSpc>
                <a:spcPts val="259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cout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&lt;&lt;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var2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&lt;&lt;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endl; </a:t>
            </a:r>
            <a:r>
              <a:rPr sz="2200" dirty="0">
                <a:latin typeface="Calibri"/>
                <a:cs typeface="Calibri"/>
              </a:rPr>
              <a:t>return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0;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05"/>
              </a:lnSpc>
            </a:pPr>
            <a:r>
              <a:rPr sz="2200" spc="-50" dirty="0">
                <a:latin typeface="Calibri"/>
                <a:cs typeface="Calibri"/>
              </a:rPr>
              <a:t>}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5175" y="3115436"/>
            <a:ext cx="3564890" cy="2000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1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//two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integer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variables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80"/>
              </a:lnSpc>
            </a:pPr>
            <a:r>
              <a:rPr sz="2200" dirty="0">
                <a:latin typeface="Calibri"/>
                <a:cs typeface="Calibri"/>
              </a:rPr>
              <a:t>//pointer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integers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90"/>
              </a:lnSpc>
            </a:pPr>
            <a:r>
              <a:rPr sz="2200" dirty="0">
                <a:latin typeface="Calibri"/>
                <a:cs typeface="Calibri"/>
              </a:rPr>
              <a:t>//set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pointer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var1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85"/>
              </a:lnSpc>
            </a:pPr>
            <a:r>
              <a:rPr sz="2200" dirty="0">
                <a:latin typeface="Calibri"/>
                <a:cs typeface="Calibri"/>
              </a:rPr>
              <a:t>//same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var1=37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80"/>
              </a:lnSpc>
            </a:pPr>
            <a:r>
              <a:rPr sz="2200" dirty="0">
                <a:latin typeface="Calibri"/>
                <a:cs typeface="Calibri"/>
              </a:rPr>
              <a:t>//same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var2=var1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610"/>
              </a:lnSpc>
            </a:pPr>
            <a:r>
              <a:rPr sz="2200" dirty="0">
                <a:latin typeface="Calibri"/>
                <a:cs typeface="Calibri"/>
              </a:rPr>
              <a:t>//verify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var2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37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5740095"/>
            <a:ext cx="10117455" cy="56197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41300" marR="5080" indent="-228600">
              <a:lnSpc>
                <a:spcPct val="60000"/>
              </a:lnSpc>
              <a:spcBef>
                <a:spcPts val="115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indirection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operator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stored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called</a:t>
            </a:r>
            <a:r>
              <a:rPr sz="2200" spc="-120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EF"/>
                </a:solidFill>
                <a:latin typeface="Calibri"/>
                <a:cs typeface="Calibri"/>
              </a:rPr>
              <a:t>indirect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addressing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sometimes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EF"/>
                </a:solidFill>
                <a:latin typeface="Calibri"/>
                <a:cs typeface="Calibri"/>
              </a:rPr>
              <a:t>dereferencing</a:t>
            </a:r>
            <a:r>
              <a:rPr sz="2200" dirty="0">
                <a:solidFill>
                  <a:srgbClr val="00AFEF"/>
                </a:solidFill>
                <a:latin typeface="Calibri"/>
                <a:cs typeface="Calibri"/>
              </a:rPr>
              <a:t>,</a:t>
            </a:r>
            <a:r>
              <a:rPr sz="2200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pointer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98854"/>
            <a:ext cx="10357485" cy="515620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sz="2800" b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Void:</a:t>
            </a:r>
            <a:r>
              <a:rPr sz="2800" b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Void</a:t>
            </a:r>
            <a:r>
              <a:rPr sz="2800" b="1" spc="-114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269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909955" algn="l"/>
                <a:tab pos="2162810" algn="l"/>
                <a:tab pos="2888615" algn="l"/>
                <a:tab pos="3243580" algn="l"/>
                <a:tab pos="3870325" algn="l"/>
                <a:tab pos="4272280" algn="l"/>
                <a:tab pos="4577080" algn="l"/>
                <a:tab pos="5764530" algn="l"/>
                <a:tab pos="6624320" algn="l"/>
                <a:tab pos="7120890" algn="l"/>
                <a:tab pos="7736840" algn="l"/>
                <a:tab pos="8641080" algn="l"/>
                <a:tab pos="9418320" algn="l"/>
                <a:tab pos="9861550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put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pointer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must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same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type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pointer.</a:t>
            </a:r>
            <a:endParaRPr sz="2800">
              <a:latin typeface="Calibri"/>
              <a:cs typeface="Calibri"/>
            </a:endParaRPr>
          </a:p>
          <a:p>
            <a:pPr marL="240029" marR="5715" indent="-227329">
              <a:lnSpc>
                <a:spcPts val="26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One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can’t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float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variable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pointer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int,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	</a:t>
            </a:r>
            <a:r>
              <a:rPr sz="2800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345"/>
              </a:spcBef>
            </a:pPr>
            <a:r>
              <a:rPr sz="2800" dirty="0">
                <a:latin typeface="Calibri"/>
                <a:cs typeface="Calibri"/>
              </a:rPr>
              <a:t>float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flovar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98.6;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325"/>
              </a:spcBef>
            </a:pPr>
            <a:r>
              <a:rPr sz="2800" dirty="0">
                <a:latin typeface="Calibri"/>
                <a:cs typeface="Calibri"/>
              </a:rPr>
              <a:t>int*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ptrint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&amp;flovar;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//ERROR: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can’t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float*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int*</a:t>
            </a:r>
            <a:endParaRPr sz="2800">
              <a:latin typeface="Calibri"/>
              <a:cs typeface="Calibri"/>
            </a:endParaRPr>
          </a:p>
          <a:p>
            <a:pPr marL="240029" marR="6350" indent="-227329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sort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general-</a:t>
            </a:r>
            <a:r>
              <a:rPr sz="2800" dirty="0">
                <a:latin typeface="Calibri"/>
                <a:cs typeface="Calibri"/>
              </a:rPr>
              <a:t>purpose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pointer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 	</a:t>
            </a:r>
            <a:r>
              <a:rPr sz="2800" dirty="0">
                <a:latin typeface="Calibri"/>
                <a:cs typeface="Calibri"/>
              </a:rPr>
              <a:t>type.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void,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this:</a:t>
            </a:r>
            <a:endParaRPr sz="2800">
              <a:latin typeface="Calibri"/>
              <a:cs typeface="Calibri"/>
            </a:endParaRPr>
          </a:p>
          <a:p>
            <a:pPr marL="1989455">
              <a:lnSpc>
                <a:spcPct val="100000"/>
              </a:lnSpc>
              <a:spcBef>
                <a:spcPts val="325"/>
              </a:spcBef>
              <a:tabLst>
                <a:tab pos="3818254" algn="l"/>
              </a:tabLst>
            </a:pPr>
            <a:r>
              <a:rPr sz="2800" dirty="0">
                <a:latin typeface="Calibri"/>
                <a:cs typeface="Calibri"/>
              </a:rPr>
              <a:t>void*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ptr;</a:t>
            </a:r>
            <a:r>
              <a:rPr sz="2800" dirty="0">
                <a:latin typeface="Calibri"/>
                <a:cs typeface="Calibri"/>
              </a:rPr>
              <a:t>	//ptr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type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269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Such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pointers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certain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specialized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uses,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passing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pointers 	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operate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independently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2907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Access</a:t>
            </a:r>
            <a:r>
              <a:rPr sz="28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via</a:t>
            </a:r>
            <a:r>
              <a:rPr sz="28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3064" y="841246"/>
            <a:ext cx="5466588" cy="52651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9473" y="1142699"/>
            <a:ext cx="4072254" cy="213614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Void</a:t>
            </a:r>
            <a:r>
              <a:rPr sz="2800" b="1" spc="-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1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(ptrvoid.cpp)</a:t>
            </a:r>
            <a:endParaRPr sz="2800">
              <a:latin typeface="Calibri"/>
              <a:cs typeface="Calibri"/>
            </a:endParaRPr>
          </a:p>
          <a:p>
            <a:pPr marL="12700" marR="1423670">
              <a:lnSpc>
                <a:spcPct val="118000"/>
              </a:lnSpc>
              <a:spcBef>
                <a:spcPts val="90"/>
              </a:spcBef>
            </a:pPr>
            <a:r>
              <a:rPr sz="2200" dirty="0">
                <a:latin typeface="Calibri"/>
                <a:cs typeface="Calibri"/>
              </a:rPr>
              <a:t>//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pointers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type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void </a:t>
            </a:r>
            <a:r>
              <a:rPr sz="2200" dirty="0">
                <a:latin typeface="Calibri"/>
                <a:cs typeface="Calibri"/>
              </a:rPr>
              <a:t>#include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&lt;iostream.h&gt; </a:t>
            </a:r>
            <a:r>
              <a:rPr sz="2200" dirty="0">
                <a:latin typeface="Calibri"/>
                <a:cs typeface="Calibri"/>
              </a:rPr>
              <a:t>int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main()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200" spc="-50" dirty="0">
                <a:latin typeface="Calibri"/>
                <a:cs typeface="Calibri"/>
              </a:rPr>
              <a:t>{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8378" y="3255035"/>
            <a:ext cx="1846580" cy="2395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9554">
              <a:lnSpc>
                <a:spcPct val="1179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int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intvar; </a:t>
            </a:r>
            <a:r>
              <a:rPr sz="2200" dirty="0">
                <a:latin typeface="Calibri"/>
                <a:cs typeface="Calibri"/>
              </a:rPr>
              <a:t>float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flovar; </a:t>
            </a:r>
            <a:r>
              <a:rPr sz="2200" dirty="0">
                <a:latin typeface="Calibri"/>
                <a:cs typeface="Calibri"/>
              </a:rPr>
              <a:t>int*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ptrint; </a:t>
            </a:r>
            <a:r>
              <a:rPr sz="2200" dirty="0">
                <a:latin typeface="Calibri"/>
                <a:cs typeface="Calibri"/>
              </a:rPr>
              <a:t>float*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ptrflo; </a:t>
            </a:r>
            <a:r>
              <a:rPr sz="2200" dirty="0">
                <a:latin typeface="Calibri"/>
                <a:cs typeface="Calibri"/>
              </a:rPr>
              <a:t>void*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ptrvoid;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200" dirty="0">
                <a:latin typeface="Calibri"/>
                <a:cs typeface="Calibri"/>
              </a:rPr>
              <a:t>ptrint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&amp;intvar;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2952" y="3255035"/>
            <a:ext cx="2741930" cy="239585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200" spc="-10" dirty="0">
                <a:latin typeface="Calibri"/>
                <a:cs typeface="Calibri"/>
              </a:rPr>
              <a:t>//integer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variable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200" dirty="0">
                <a:latin typeface="Calibri"/>
                <a:cs typeface="Calibri"/>
              </a:rPr>
              <a:t>//float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variable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200" dirty="0">
                <a:latin typeface="Calibri"/>
                <a:cs typeface="Calibri"/>
              </a:rPr>
              <a:t>//define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pointer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int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200" dirty="0">
                <a:latin typeface="Calibri"/>
                <a:cs typeface="Calibri"/>
              </a:rPr>
              <a:t>//define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pointer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float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200" dirty="0">
                <a:latin typeface="Calibri"/>
                <a:cs typeface="Calibri"/>
              </a:rPr>
              <a:t>//define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pointer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void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200" dirty="0">
                <a:latin typeface="Calibri"/>
                <a:cs typeface="Calibri"/>
              </a:rPr>
              <a:t>//ok,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int*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int*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48602" y="1636623"/>
            <a:ext cx="1935480" cy="229997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latin typeface="Calibri"/>
                <a:cs typeface="Calibri"/>
              </a:rPr>
              <a:t>//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ptrint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&amp;flovar;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21800"/>
              </a:lnSpc>
              <a:spcBef>
                <a:spcPts val="185"/>
              </a:spcBef>
            </a:pPr>
            <a:r>
              <a:rPr sz="2000" dirty="0">
                <a:latin typeface="Calibri"/>
                <a:cs typeface="Calibri"/>
              </a:rPr>
              <a:t>//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ptrflo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&amp;intvar; </a:t>
            </a:r>
            <a:r>
              <a:rPr sz="2000" dirty="0">
                <a:latin typeface="Calibri"/>
                <a:cs typeface="Calibri"/>
              </a:rPr>
              <a:t>ptrflo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&amp;flovar; </a:t>
            </a:r>
            <a:r>
              <a:rPr sz="2000" dirty="0">
                <a:latin typeface="Calibri"/>
                <a:cs typeface="Calibri"/>
              </a:rPr>
              <a:t>ptrvoid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&amp;intvar; </a:t>
            </a:r>
            <a:r>
              <a:rPr sz="2000" dirty="0">
                <a:latin typeface="Calibri"/>
                <a:cs typeface="Calibri"/>
              </a:rPr>
              <a:t>ptrvoid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&amp;flovar; </a:t>
            </a:r>
            <a:r>
              <a:rPr sz="2000" dirty="0">
                <a:latin typeface="Calibri"/>
                <a:cs typeface="Calibri"/>
              </a:rPr>
              <a:t>return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0;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63582" y="1636623"/>
            <a:ext cx="2174240" cy="192786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000" spc="-30" dirty="0">
                <a:latin typeface="Calibri"/>
                <a:cs typeface="Calibri"/>
              </a:rPr>
              <a:t>//error,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float*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int*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000" spc="-30" dirty="0">
                <a:latin typeface="Calibri"/>
                <a:cs typeface="Calibri"/>
              </a:rPr>
              <a:t>//error,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int*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float*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000" dirty="0">
                <a:latin typeface="Calibri"/>
                <a:cs typeface="Calibri"/>
              </a:rPr>
              <a:t>//ok,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float*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float*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000" dirty="0">
                <a:latin typeface="Calibri"/>
                <a:cs typeface="Calibri"/>
              </a:rPr>
              <a:t>//ok,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int*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void*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000" dirty="0">
                <a:latin typeface="Calibri"/>
                <a:cs typeface="Calibri"/>
              </a:rPr>
              <a:t>//ok,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float*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void*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20002" y="3975303"/>
            <a:ext cx="1060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63802"/>
            <a:ext cx="10358755" cy="49218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Functions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Three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value,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reference,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85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302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intended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modify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variables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calling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program, 	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variables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passed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value,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since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 	</a:t>
            </a:r>
            <a:r>
              <a:rPr sz="2800" dirty="0">
                <a:latin typeface="Calibri"/>
                <a:cs typeface="Calibri"/>
              </a:rPr>
              <a:t>obtains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copy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variable.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2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reference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argument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situation.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8100" y="1211153"/>
            <a:ext cx="4606925" cy="91249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18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18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Functions:</a:t>
            </a:r>
            <a:r>
              <a:rPr sz="1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Passing</a:t>
            </a:r>
            <a:r>
              <a:rPr sz="18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Simple</a:t>
            </a:r>
            <a:r>
              <a:rPr sz="1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10" dirty="0">
                <a:latin typeface="Calibri"/>
                <a:cs typeface="Calibri"/>
              </a:rPr>
              <a:t> arguments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passed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#include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&lt;iostream.h&gt;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8100" y="2387600"/>
            <a:ext cx="2749550" cy="4401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98219">
              <a:lnSpc>
                <a:spcPct val="1067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void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swap(int,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int);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var1,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var2;</a:t>
            </a:r>
            <a:endParaRPr sz="1800">
              <a:latin typeface="Calibri"/>
              <a:cs typeface="Calibri"/>
            </a:endParaRPr>
          </a:p>
          <a:p>
            <a:pPr marL="241300" marR="718185">
              <a:lnSpc>
                <a:spcPct val="1061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var1=10;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var2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20; </a:t>
            </a:r>
            <a:r>
              <a:rPr sz="1800" spc="-10" dirty="0">
                <a:latin typeface="Calibri"/>
                <a:cs typeface="Calibri"/>
              </a:rPr>
              <a:t>swap(var1, var2); </a:t>
            </a:r>
            <a:r>
              <a:rPr sz="1800" dirty="0">
                <a:latin typeface="Calibri"/>
                <a:cs typeface="Calibri"/>
              </a:rPr>
              <a:t>return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dirty="0">
                <a:latin typeface="Calibri"/>
                <a:cs typeface="Calibri"/>
              </a:rPr>
              <a:t>void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swap(int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y)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x;</a:t>
            </a:r>
            <a:endParaRPr sz="1800">
              <a:latin typeface="Calibri"/>
              <a:cs typeface="Calibri"/>
            </a:endParaRPr>
          </a:p>
          <a:p>
            <a:pPr marL="292735" marR="1965325">
              <a:lnSpc>
                <a:spcPct val="1061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x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y;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z;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40"/>
              </a:spcBef>
            </a:pPr>
            <a:r>
              <a:rPr sz="1800" dirty="0">
                <a:latin typeface="Calibri"/>
                <a:cs typeface="Calibri"/>
              </a:rPr>
              <a:t>cout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&lt;&lt;"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"&lt;&lt;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&lt;&lt;endl;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0684" y="2405888"/>
            <a:ext cx="1129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//prototype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0684" y="3864609"/>
            <a:ext cx="2326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//swap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8100" y="1211153"/>
            <a:ext cx="4911725" cy="91249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1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1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Functions:</a:t>
            </a:r>
            <a:r>
              <a:rPr sz="18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Passing</a:t>
            </a:r>
            <a:r>
              <a:rPr sz="1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Reference</a:t>
            </a:r>
            <a:r>
              <a:rPr sz="1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10" dirty="0">
                <a:latin typeface="Calibri"/>
                <a:cs typeface="Calibri"/>
              </a:rPr>
              <a:t> arguments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passed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reference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#include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&lt;iostream.h&gt;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8100" y="2387600"/>
            <a:ext cx="3364229" cy="4401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1115">
              <a:lnSpc>
                <a:spcPct val="1067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void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swap(int&amp;,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int&amp;);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var1,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var2;</a:t>
            </a:r>
            <a:endParaRPr sz="1800">
              <a:latin typeface="Calibri"/>
              <a:cs typeface="Calibri"/>
            </a:endParaRPr>
          </a:p>
          <a:p>
            <a:pPr marL="241300" marR="1332865">
              <a:lnSpc>
                <a:spcPct val="1061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var1=10;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var2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20; </a:t>
            </a:r>
            <a:r>
              <a:rPr sz="1800" spc="-10" dirty="0">
                <a:latin typeface="Calibri"/>
                <a:cs typeface="Calibri"/>
              </a:rPr>
              <a:t>swap(var1, var2);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cout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var1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&lt;&lt;“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”&lt;&lt;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var2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&lt;&lt;endl;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return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void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swap(int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&amp;x,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&amp;y)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92735" marR="2293620">
              <a:lnSpc>
                <a:spcPct val="106100"/>
              </a:lnSpc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x;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y;</a:t>
            </a:r>
            <a:endParaRPr sz="180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z;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5084" y="2405888"/>
            <a:ext cx="1129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//prototype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5084" y="3864609"/>
            <a:ext cx="2326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//swap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8100" y="1211153"/>
            <a:ext cx="4911725" cy="91249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1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1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Functions:</a:t>
            </a:r>
            <a:r>
              <a:rPr sz="18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Passing</a:t>
            </a:r>
            <a:r>
              <a:rPr sz="1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Reference</a:t>
            </a:r>
            <a:r>
              <a:rPr sz="1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10" dirty="0">
                <a:latin typeface="Calibri"/>
                <a:cs typeface="Calibri"/>
              </a:rPr>
              <a:t> arguments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passed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reference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#include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&lt;iostream.h&gt;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8100" y="2387600"/>
            <a:ext cx="3364229" cy="4401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83030">
              <a:lnSpc>
                <a:spcPct val="1067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void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swap(int*,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int*);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var1,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var2;</a:t>
            </a:r>
            <a:endParaRPr sz="1800">
              <a:latin typeface="Calibri"/>
              <a:cs typeface="Calibri"/>
            </a:endParaRPr>
          </a:p>
          <a:p>
            <a:pPr marL="241300" marR="1204595">
              <a:lnSpc>
                <a:spcPct val="1061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var1=10;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var2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20; </a:t>
            </a:r>
            <a:r>
              <a:rPr sz="1800" spc="-10" dirty="0">
                <a:latin typeface="Calibri"/>
                <a:cs typeface="Calibri"/>
              </a:rPr>
              <a:t>swap(&amp;var1,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&amp;var2);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cout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var1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&lt;&lt;“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”&lt;&lt;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var2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&lt;&lt;endl;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return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void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swap(int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*x,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*y)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130"/>
              </a:spcBef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*x;</a:t>
            </a:r>
            <a:endParaRPr sz="180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*x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*y;</a:t>
            </a:r>
            <a:endParaRPr sz="180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*y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z;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5084" y="2405888"/>
            <a:ext cx="1129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//prototype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9866" y="3864609"/>
            <a:ext cx="2326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//swap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08608"/>
            <a:ext cx="4606925" cy="52876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18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18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Functions:</a:t>
            </a:r>
            <a:r>
              <a:rPr sz="1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Passing</a:t>
            </a:r>
            <a:r>
              <a:rPr sz="18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Simple</a:t>
            </a:r>
            <a:r>
              <a:rPr sz="1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  <a:p>
            <a:pPr marL="12700" marR="1842135">
              <a:lnSpc>
                <a:spcPct val="106700"/>
              </a:lnSpc>
              <a:spcBef>
                <a:spcPts val="35"/>
              </a:spcBef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arguments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passed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value </a:t>
            </a:r>
            <a:r>
              <a:rPr sz="1800" dirty="0">
                <a:latin typeface="Calibri"/>
                <a:cs typeface="Calibri"/>
              </a:rPr>
              <a:t>#include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&lt;iostream&gt;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dirty="0">
                <a:latin typeface="Calibri"/>
                <a:cs typeface="Calibri"/>
              </a:rPr>
              <a:t>#include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&lt;conio.h&gt;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800">
              <a:latin typeface="Calibri"/>
              <a:cs typeface="Calibri"/>
            </a:endParaRPr>
          </a:p>
          <a:p>
            <a:pPr marL="12700" marR="2399665">
              <a:lnSpc>
                <a:spcPct val="106100"/>
              </a:lnSpc>
            </a:pP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namespace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std; </a:t>
            </a:r>
            <a:r>
              <a:rPr sz="1800" dirty="0">
                <a:latin typeface="Calibri"/>
                <a:cs typeface="Calibri"/>
              </a:rPr>
              <a:t>void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centimize(double);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  <a:tabLst>
                <a:tab pos="240665" algn="l"/>
              </a:tabLst>
            </a:pPr>
            <a:r>
              <a:rPr sz="1800" spc="-50" dirty="0">
                <a:latin typeface="Calibri"/>
                <a:cs typeface="Calibri"/>
              </a:rPr>
              <a:t>{</a:t>
            </a:r>
            <a:r>
              <a:rPr sz="1800" dirty="0">
                <a:latin typeface="Calibri"/>
                <a:cs typeface="Calibri"/>
              </a:rPr>
              <a:t>	double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10.0;</a:t>
            </a:r>
            <a:endParaRPr sz="1800">
              <a:latin typeface="Calibri"/>
              <a:cs typeface="Calibri"/>
            </a:endParaRPr>
          </a:p>
          <a:p>
            <a:pPr marL="241300" marR="593725">
              <a:lnSpc>
                <a:spcPct val="106100"/>
              </a:lnSpc>
            </a:pPr>
            <a:r>
              <a:rPr sz="1800" dirty="0">
                <a:latin typeface="Calibri"/>
                <a:cs typeface="Calibri"/>
              </a:rPr>
              <a:t>cout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&lt;&lt;"var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="&lt;&lt;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&lt;&lt;"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inches"&lt;&lt;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endl; centimize(var);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return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dirty="0">
                <a:latin typeface="Calibri"/>
                <a:cs typeface="Calibri"/>
              </a:rPr>
              <a:t>void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centimize(double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v)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*=</a:t>
            </a:r>
            <a:r>
              <a:rPr sz="1800" spc="-10" dirty="0">
                <a:latin typeface="Calibri"/>
                <a:cs typeface="Calibri"/>
              </a:rPr>
              <a:t> 2.54;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0"/>
              </a:spcBef>
            </a:pPr>
            <a:r>
              <a:rPr sz="1800" dirty="0">
                <a:latin typeface="Calibri"/>
                <a:cs typeface="Calibri"/>
              </a:rPr>
              <a:t>cout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&lt;&lt;"var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="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centimeters"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 </a:t>
            </a:r>
            <a:r>
              <a:rPr sz="1800" spc="-10" dirty="0">
                <a:latin typeface="Calibri"/>
                <a:cs typeface="Calibri"/>
              </a:rPr>
              <a:t>endl;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3975" y="3087370"/>
            <a:ext cx="1129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//prototype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3975" y="3670757"/>
            <a:ext cx="2616835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//var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inches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//change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centimeters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3975" y="5712358"/>
            <a:ext cx="2900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//simple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variable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5" dirty="0">
                <a:latin typeface="Calibri"/>
                <a:cs typeface="Calibri"/>
              </a:rPr>
              <a:t> var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20800"/>
            <a:ext cx="5466080" cy="958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0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0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Functions:</a:t>
            </a:r>
            <a:r>
              <a:rPr sz="20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Passing</a:t>
            </a:r>
            <a:r>
              <a:rPr sz="20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00AF50"/>
                </a:solidFill>
                <a:latin typeface="Calibri"/>
                <a:cs typeface="Calibri"/>
              </a:rPr>
              <a:t>Reference</a:t>
            </a:r>
            <a:r>
              <a:rPr sz="20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Calibri"/>
                <a:cs typeface="Calibri"/>
              </a:rPr>
              <a:t>Variables</a:t>
            </a:r>
            <a:endParaRPr sz="2000">
              <a:latin typeface="Calibri"/>
              <a:cs typeface="Calibri"/>
            </a:endParaRPr>
          </a:p>
          <a:p>
            <a:pPr marL="12700" marR="1962785">
              <a:lnSpc>
                <a:spcPct val="102000"/>
              </a:lnSpc>
              <a:spcBef>
                <a:spcPts val="45"/>
              </a:spcBef>
            </a:pPr>
            <a:r>
              <a:rPr sz="2000" dirty="0">
                <a:latin typeface="Calibri"/>
                <a:cs typeface="Calibri"/>
              </a:rPr>
              <a:t>//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arguments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reference </a:t>
            </a:r>
            <a:r>
              <a:rPr sz="2000" dirty="0">
                <a:latin typeface="Calibri"/>
                <a:cs typeface="Calibri"/>
              </a:rPr>
              <a:t>#include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&lt;iostream.h&gt;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685415">
              <a:lnSpc>
                <a:spcPct val="102000"/>
              </a:lnSpc>
              <a:spcBef>
                <a:spcPts val="55"/>
              </a:spcBef>
            </a:pPr>
            <a:r>
              <a:rPr dirty="0"/>
              <a:t>void</a:t>
            </a:r>
            <a:r>
              <a:rPr spc="-50" dirty="0"/>
              <a:t> </a:t>
            </a:r>
            <a:r>
              <a:rPr spc="-10" dirty="0"/>
              <a:t>centimize(double&amp;); </a:t>
            </a:r>
            <a:r>
              <a:rPr dirty="0"/>
              <a:t>int</a:t>
            </a:r>
            <a:r>
              <a:rPr spc="-40" dirty="0"/>
              <a:t> </a:t>
            </a:r>
            <a:r>
              <a:rPr spc="-10" dirty="0"/>
              <a:t>main()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{</a:t>
            </a: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dirty="0"/>
              <a:t>double</a:t>
            </a:r>
            <a:r>
              <a:rPr spc="-55" dirty="0"/>
              <a:t> </a:t>
            </a:r>
            <a:r>
              <a:rPr dirty="0"/>
              <a:t>var</a:t>
            </a:r>
            <a:r>
              <a:rPr spc="-30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spc="-20" dirty="0"/>
              <a:t>10.0;</a:t>
            </a:r>
          </a:p>
          <a:p>
            <a:pPr marL="241300" marR="577850">
              <a:lnSpc>
                <a:spcPct val="101499"/>
              </a:lnSpc>
              <a:spcBef>
                <a:spcPts val="15"/>
              </a:spcBef>
            </a:pPr>
            <a:r>
              <a:rPr dirty="0"/>
              <a:t>cout</a:t>
            </a:r>
            <a:r>
              <a:rPr spc="-50" dirty="0"/>
              <a:t> </a:t>
            </a:r>
            <a:r>
              <a:rPr dirty="0"/>
              <a:t>&lt;&lt;</a:t>
            </a:r>
            <a:r>
              <a:rPr spc="-25" dirty="0"/>
              <a:t> </a:t>
            </a:r>
            <a:r>
              <a:rPr dirty="0"/>
              <a:t>“var</a:t>
            </a:r>
            <a:r>
              <a:rPr spc="-20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dirty="0"/>
              <a:t>”</a:t>
            </a:r>
            <a:r>
              <a:rPr spc="-30" dirty="0"/>
              <a:t> </a:t>
            </a:r>
            <a:r>
              <a:rPr dirty="0"/>
              <a:t>&lt;&lt;</a:t>
            </a:r>
            <a:r>
              <a:rPr spc="-20" dirty="0"/>
              <a:t> </a:t>
            </a:r>
            <a:r>
              <a:rPr dirty="0"/>
              <a:t>var</a:t>
            </a:r>
            <a:r>
              <a:rPr spc="-25" dirty="0"/>
              <a:t> </a:t>
            </a:r>
            <a:r>
              <a:rPr dirty="0"/>
              <a:t>&lt;&lt;</a:t>
            </a:r>
            <a:r>
              <a:rPr spc="-20" dirty="0"/>
              <a:t> </a:t>
            </a:r>
            <a:r>
              <a:rPr dirty="0"/>
              <a:t>“</a:t>
            </a:r>
            <a:r>
              <a:rPr spc="-35" dirty="0"/>
              <a:t> </a:t>
            </a:r>
            <a:r>
              <a:rPr dirty="0"/>
              <a:t>inches”</a:t>
            </a:r>
            <a:r>
              <a:rPr spc="-30" dirty="0"/>
              <a:t> </a:t>
            </a:r>
            <a:r>
              <a:rPr dirty="0"/>
              <a:t>&lt;&lt;</a:t>
            </a:r>
            <a:r>
              <a:rPr spc="-15" dirty="0"/>
              <a:t> </a:t>
            </a:r>
            <a:r>
              <a:rPr spc="-10" dirty="0"/>
              <a:t>endl; centimize(var);</a:t>
            </a: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dirty="0"/>
              <a:t>cout</a:t>
            </a:r>
            <a:r>
              <a:rPr spc="-55" dirty="0"/>
              <a:t> </a:t>
            </a:r>
            <a:r>
              <a:rPr dirty="0"/>
              <a:t>&lt;&lt;</a:t>
            </a:r>
            <a:r>
              <a:rPr spc="-30" dirty="0"/>
              <a:t> </a:t>
            </a:r>
            <a:r>
              <a:rPr dirty="0"/>
              <a:t>“var</a:t>
            </a:r>
            <a:r>
              <a:rPr spc="-30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”</a:t>
            </a:r>
            <a:r>
              <a:rPr spc="-35" dirty="0"/>
              <a:t> </a:t>
            </a:r>
            <a:r>
              <a:rPr dirty="0"/>
              <a:t>&lt;&lt;</a:t>
            </a:r>
            <a:r>
              <a:rPr spc="-30" dirty="0"/>
              <a:t> </a:t>
            </a:r>
            <a:r>
              <a:rPr dirty="0"/>
              <a:t>var</a:t>
            </a:r>
            <a:r>
              <a:rPr spc="-25" dirty="0"/>
              <a:t> </a:t>
            </a:r>
            <a:r>
              <a:rPr dirty="0"/>
              <a:t>&lt;&lt;</a:t>
            </a:r>
            <a:r>
              <a:rPr spc="-30" dirty="0"/>
              <a:t> </a:t>
            </a:r>
            <a:r>
              <a:rPr dirty="0"/>
              <a:t>“</a:t>
            </a:r>
            <a:r>
              <a:rPr spc="-40" dirty="0"/>
              <a:t> </a:t>
            </a:r>
            <a:r>
              <a:rPr spc="-10" dirty="0"/>
              <a:t>centimeters”</a:t>
            </a:r>
            <a:r>
              <a:rPr spc="5" dirty="0"/>
              <a:t> </a:t>
            </a:r>
            <a:r>
              <a:rPr dirty="0"/>
              <a:t>&lt;&lt;</a:t>
            </a:r>
            <a:r>
              <a:rPr spc="-25" dirty="0"/>
              <a:t> </a:t>
            </a:r>
            <a:r>
              <a:rPr spc="-10" dirty="0"/>
              <a:t>endl;</a:t>
            </a:r>
          </a:p>
          <a:p>
            <a:pPr marL="241300">
              <a:lnSpc>
                <a:spcPct val="100000"/>
              </a:lnSpc>
              <a:spcBef>
                <a:spcPts val="50"/>
              </a:spcBef>
            </a:pPr>
            <a:r>
              <a:rPr dirty="0"/>
              <a:t>return</a:t>
            </a:r>
            <a:r>
              <a:rPr spc="-70" dirty="0"/>
              <a:t> </a:t>
            </a:r>
            <a:r>
              <a:rPr spc="-25" dirty="0"/>
              <a:t>0;</a:t>
            </a: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0" dirty="0"/>
              <a:t>}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void</a:t>
            </a:r>
            <a:r>
              <a:rPr spc="-50" dirty="0"/>
              <a:t> </a:t>
            </a:r>
            <a:r>
              <a:rPr spc="-10" dirty="0"/>
              <a:t>centimize(double</a:t>
            </a:r>
            <a:r>
              <a:rPr spc="-35" dirty="0"/>
              <a:t> </a:t>
            </a:r>
            <a:r>
              <a:rPr spc="-25" dirty="0"/>
              <a:t>&amp;v)</a:t>
            </a: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50" dirty="0"/>
              <a:t>{</a:t>
            </a:r>
          </a:p>
          <a:p>
            <a:pPr marL="297180">
              <a:lnSpc>
                <a:spcPct val="100000"/>
              </a:lnSpc>
              <a:spcBef>
                <a:spcPts val="35"/>
              </a:spcBef>
            </a:pPr>
            <a:r>
              <a:rPr dirty="0"/>
              <a:t>v</a:t>
            </a:r>
            <a:r>
              <a:rPr spc="-15" dirty="0"/>
              <a:t> </a:t>
            </a:r>
            <a:r>
              <a:rPr dirty="0"/>
              <a:t>*=</a:t>
            </a:r>
            <a:r>
              <a:rPr spc="-10" dirty="0"/>
              <a:t> 2.54;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03975" y="2567686"/>
            <a:ext cx="12560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/>
                <a:cs typeface="Calibri"/>
              </a:rPr>
              <a:t>//prototype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3975" y="3497021"/>
            <a:ext cx="28714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//var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inches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03975" y="4117975"/>
            <a:ext cx="29025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//change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centimeters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3975" y="5977229"/>
            <a:ext cx="22275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//v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var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20800"/>
            <a:ext cx="5307965" cy="5297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0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0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Functions:</a:t>
            </a:r>
            <a:r>
              <a:rPr sz="20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Passing</a:t>
            </a:r>
            <a:r>
              <a:rPr sz="20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0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Calibri"/>
                <a:cs typeface="Calibri"/>
              </a:rPr>
              <a:t>Variables</a:t>
            </a:r>
            <a:endParaRPr sz="2000">
              <a:latin typeface="Calibri"/>
              <a:cs typeface="Calibri"/>
            </a:endParaRPr>
          </a:p>
          <a:p>
            <a:pPr marL="12700" marR="2038985">
              <a:lnSpc>
                <a:spcPct val="102000"/>
              </a:lnSpc>
              <a:spcBef>
                <a:spcPts val="45"/>
              </a:spcBef>
            </a:pPr>
            <a:r>
              <a:rPr sz="2000" dirty="0">
                <a:latin typeface="Calibri"/>
                <a:cs typeface="Calibri"/>
              </a:rPr>
              <a:t>//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arguments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pointer </a:t>
            </a:r>
            <a:r>
              <a:rPr sz="2000" dirty="0">
                <a:latin typeface="Calibri"/>
                <a:cs typeface="Calibri"/>
              </a:rPr>
              <a:t>#include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&lt;iostream.h&gt;</a:t>
            </a:r>
            <a:endParaRPr sz="2000">
              <a:latin typeface="Calibri"/>
              <a:cs typeface="Calibri"/>
            </a:endParaRPr>
          </a:p>
          <a:p>
            <a:pPr marL="12700" marR="2731770">
              <a:lnSpc>
                <a:spcPts val="4880"/>
              </a:lnSpc>
              <a:spcBef>
                <a:spcPts val="570"/>
              </a:spcBef>
            </a:pPr>
            <a:r>
              <a:rPr sz="2000" dirty="0">
                <a:latin typeface="Calibri"/>
                <a:cs typeface="Calibri"/>
              </a:rPr>
              <a:t>void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centimize(double*); </a:t>
            </a:r>
            <a:r>
              <a:rPr sz="2000" dirty="0">
                <a:latin typeface="Calibri"/>
                <a:cs typeface="Calibri"/>
              </a:rPr>
              <a:t>int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main()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864"/>
              </a:lnSpc>
              <a:tabLst>
                <a:tab pos="240665" algn="l"/>
              </a:tabLst>
            </a:pPr>
            <a:r>
              <a:rPr sz="2000" spc="-50" dirty="0">
                <a:latin typeface="Calibri"/>
                <a:cs typeface="Calibri"/>
              </a:rPr>
              <a:t>{</a:t>
            </a:r>
            <a:r>
              <a:rPr sz="2000" dirty="0">
                <a:latin typeface="Calibri"/>
                <a:cs typeface="Calibri"/>
              </a:rPr>
              <a:t>	double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10.0;</a:t>
            </a:r>
            <a:endParaRPr sz="2000">
              <a:latin typeface="Calibri"/>
              <a:cs typeface="Calibri"/>
            </a:endParaRPr>
          </a:p>
          <a:p>
            <a:pPr marL="241300" marR="577850">
              <a:lnSpc>
                <a:spcPct val="101499"/>
              </a:lnSpc>
              <a:spcBef>
                <a:spcPts val="15"/>
              </a:spcBef>
            </a:pPr>
            <a:r>
              <a:rPr sz="2000" dirty="0">
                <a:latin typeface="Calibri"/>
                <a:cs typeface="Calibri"/>
              </a:rPr>
              <a:t>cout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“var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”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inches”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endl; centimize(&amp;var);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sz="2000" dirty="0">
                <a:latin typeface="Calibri"/>
                <a:cs typeface="Calibri"/>
              </a:rPr>
              <a:t>cout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“var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”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centimeters”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endl;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0"/>
              </a:spcBef>
            </a:pPr>
            <a:r>
              <a:rPr sz="2000" dirty="0">
                <a:latin typeface="Calibri"/>
                <a:cs typeface="Calibri"/>
              </a:rPr>
              <a:t>return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0;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000" spc="-50" dirty="0"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00" dirty="0">
                <a:latin typeface="Calibri"/>
                <a:cs typeface="Calibri"/>
              </a:rPr>
              <a:t>void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centimize(double*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ptrd)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000" spc="-50" dirty="0"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0"/>
              </a:spcBef>
            </a:pPr>
            <a:r>
              <a:rPr sz="2000" dirty="0">
                <a:latin typeface="Calibri"/>
                <a:cs typeface="Calibri"/>
              </a:rPr>
              <a:t>*ptrd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*=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2.54;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000" spc="-50" dirty="0"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3975" y="2567686"/>
            <a:ext cx="12560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/>
                <a:cs typeface="Calibri"/>
              </a:rPr>
              <a:t>//prototype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3975" y="3497021"/>
            <a:ext cx="2902585" cy="951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//var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inches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//change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centimeters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3975" y="5977229"/>
            <a:ext cx="26739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//*ptrd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var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01652"/>
            <a:ext cx="7232650" cy="129984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955"/>
              </a:spcBef>
            </a:pPr>
            <a:r>
              <a:rPr dirty="0"/>
              <a:t>C++</a:t>
            </a:r>
            <a:r>
              <a:rPr spc="-1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10" dirty="0"/>
              <a:t>Pointers</a:t>
            </a: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800" b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114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Functions:</a:t>
            </a:r>
            <a:r>
              <a:rPr sz="2800" b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Passing</a:t>
            </a:r>
            <a:r>
              <a:rPr sz="2800" b="1" spc="-1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Variables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244" y="2055876"/>
            <a:ext cx="6001511" cy="383983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67409"/>
            <a:ext cx="4865370" cy="14960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800" b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Functions:</a:t>
            </a:r>
            <a:r>
              <a:rPr sz="28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Ordering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with</a:t>
            </a:r>
            <a:r>
              <a:rPr sz="2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endParaRPr sz="2800">
              <a:latin typeface="Calibri"/>
              <a:cs typeface="Calibri"/>
            </a:endParaRPr>
          </a:p>
          <a:p>
            <a:pPr marL="12700" marR="1610995">
              <a:lnSpc>
                <a:spcPct val="132500"/>
              </a:lnSpc>
              <a:spcBef>
                <a:spcPts val="70"/>
              </a:spcBef>
            </a:pPr>
            <a:r>
              <a:rPr sz="1600" dirty="0">
                <a:latin typeface="Calibri"/>
                <a:cs typeface="Calibri"/>
              </a:rPr>
              <a:t>//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two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arguments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pointers </a:t>
            </a:r>
            <a:r>
              <a:rPr sz="1600" dirty="0">
                <a:latin typeface="Calibri"/>
                <a:cs typeface="Calibri"/>
              </a:rPr>
              <a:t>#include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&lt;iostream.h&gt;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838262"/>
            <a:ext cx="1793239" cy="227965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600" dirty="0">
                <a:latin typeface="Calibri"/>
                <a:cs typeface="Calibri"/>
              </a:rPr>
              <a:t>void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order(int*,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int*);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600" dirty="0">
                <a:latin typeface="Calibri"/>
                <a:cs typeface="Calibri"/>
              </a:rPr>
              <a:t>int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main()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600" spc="-50" dirty="0"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241300" marR="92710">
              <a:lnSpc>
                <a:spcPct val="131900"/>
              </a:lnSpc>
            </a:pPr>
            <a:r>
              <a:rPr sz="1600" dirty="0">
                <a:latin typeface="Calibri"/>
                <a:cs typeface="Calibri"/>
              </a:rPr>
              <a:t>int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n1=99,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n2=11; </a:t>
            </a:r>
            <a:r>
              <a:rPr sz="1600" dirty="0">
                <a:latin typeface="Calibri"/>
                <a:cs typeface="Calibri"/>
              </a:rPr>
              <a:t>int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n3=22,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n4=88;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600" dirty="0">
                <a:latin typeface="Calibri"/>
                <a:cs typeface="Calibri"/>
              </a:rPr>
              <a:t>order(&amp;n1,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&amp;n2);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615"/>
              </a:spcBef>
            </a:pPr>
            <a:r>
              <a:rPr sz="1600" spc="-10" dirty="0">
                <a:latin typeface="Calibri"/>
                <a:cs typeface="Calibri"/>
              </a:rPr>
              <a:t>order(&amp;n3, &amp;n4);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926" y="2916173"/>
            <a:ext cx="1003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//prototype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4926" y="3882644"/>
            <a:ext cx="23082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//one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pair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ordered,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not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4926" y="4526991"/>
            <a:ext cx="24276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//order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pair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numbers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0245" y="1166520"/>
            <a:ext cx="2386330" cy="1635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21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cout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&lt;&lt;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“n1=”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&lt;&lt;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n1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&lt;&lt;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endl; </a:t>
            </a:r>
            <a:r>
              <a:rPr sz="1600" dirty="0">
                <a:latin typeface="Calibri"/>
                <a:cs typeface="Calibri"/>
              </a:rPr>
              <a:t>cout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&lt;&lt;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“n2=”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&lt;&lt;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n2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&lt;&lt;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endl; </a:t>
            </a:r>
            <a:r>
              <a:rPr sz="1600" dirty="0">
                <a:latin typeface="Calibri"/>
                <a:cs typeface="Calibri"/>
              </a:rPr>
              <a:t>cout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&lt;&lt;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“n3=”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&lt;&lt;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n3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&lt;&lt;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endl; </a:t>
            </a:r>
            <a:r>
              <a:rPr sz="1600" dirty="0">
                <a:latin typeface="Calibri"/>
                <a:cs typeface="Calibri"/>
              </a:rPr>
              <a:t>cout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&lt;&lt;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“n4=”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&lt;&lt;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n4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&lt;&lt;</a:t>
            </a:r>
            <a:r>
              <a:rPr sz="1600" spc="-10" dirty="0">
                <a:latin typeface="Calibri"/>
                <a:cs typeface="Calibri"/>
              </a:rPr>
              <a:t> endl; </a:t>
            </a:r>
            <a:r>
              <a:rPr sz="1600" dirty="0">
                <a:latin typeface="Calibri"/>
                <a:cs typeface="Calibri"/>
              </a:rPr>
              <a:t>return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0;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69500" y="1244854"/>
            <a:ext cx="19145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//print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numbers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11646" y="2856102"/>
            <a:ext cx="89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11646" y="3499484"/>
            <a:ext cx="29991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void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order(int*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numb1,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int*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numb2)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69500" y="3419627"/>
            <a:ext cx="1941195" cy="99314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600" spc="-10" dirty="0">
                <a:latin typeface="Calibri"/>
                <a:cs typeface="Calibri"/>
              </a:rPr>
              <a:t>//orders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two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numbers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600" dirty="0">
                <a:latin typeface="Calibri"/>
                <a:cs typeface="Calibri"/>
              </a:rPr>
              <a:t>//if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larger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2nd,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600" spc="-10" dirty="0">
                <a:latin typeface="Calibri"/>
                <a:cs typeface="Calibri"/>
              </a:rPr>
              <a:t>//swap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them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1646" y="3744239"/>
            <a:ext cx="2682240" cy="131381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286385" algn="l"/>
              </a:tabLst>
            </a:pPr>
            <a:r>
              <a:rPr sz="1600" spc="-50" dirty="0">
                <a:latin typeface="Calibri"/>
                <a:cs typeface="Calibri"/>
              </a:rPr>
              <a:t>{</a:t>
            </a:r>
            <a:r>
              <a:rPr sz="1600" dirty="0">
                <a:latin typeface="Calibri"/>
                <a:cs typeface="Calibri"/>
              </a:rPr>
              <a:t>	if(*numb1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&gt;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*numb2)</a:t>
            </a:r>
            <a:endParaRPr sz="16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15"/>
              </a:spcBef>
            </a:pPr>
            <a:r>
              <a:rPr sz="1600" dirty="0">
                <a:latin typeface="Calibri"/>
                <a:cs typeface="Calibri"/>
              </a:rPr>
              <a:t>{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temp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*numb1;</a:t>
            </a:r>
            <a:endParaRPr sz="16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10"/>
              </a:spcBef>
            </a:pPr>
            <a:r>
              <a:rPr sz="1600" dirty="0">
                <a:latin typeface="Calibri"/>
                <a:cs typeface="Calibri"/>
              </a:rPr>
              <a:t>*numb1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*numb2;</a:t>
            </a:r>
            <a:endParaRPr sz="16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25"/>
              </a:spcBef>
            </a:pPr>
            <a:r>
              <a:rPr sz="1600" dirty="0">
                <a:latin typeface="Calibri"/>
                <a:cs typeface="Calibri"/>
              </a:rPr>
              <a:t>*numb2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temp;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11646" y="5110733"/>
            <a:ext cx="89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600" y="2190750"/>
            <a:ext cx="2964815" cy="193675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 marR="5080" indent="188595">
              <a:lnSpc>
                <a:spcPts val="7130"/>
              </a:lnSpc>
              <a:spcBef>
                <a:spcPts val="985"/>
              </a:spcBef>
            </a:pPr>
            <a:r>
              <a:rPr sz="6600" dirty="0"/>
              <a:t>Have</a:t>
            </a:r>
            <a:r>
              <a:rPr sz="6600" spc="-270" dirty="0"/>
              <a:t> </a:t>
            </a:r>
            <a:r>
              <a:rPr sz="6600" spc="-50" dirty="0"/>
              <a:t>a </a:t>
            </a:r>
            <a:r>
              <a:rPr sz="6600" dirty="0"/>
              <a:t>Nice</a:t>
            </a:r>
            <a:r>
              <a:rPr sz="6600" spc="-140" dirty="0"/>
              <a:t> </a:t>
            </a:r>
            <a:r>
              <a:rPr sz="6600" spc="-25" dirty="0"/>
              <a:t>Day</a:t>
            </a:r>
            <a:endParaRPr sz="6600"/>
          </a:p>
        </p:txBody>
      </p:sp>
      <p:grpSp>
        <p:nvGrpSpPr>
          <p:cNvPr id="3" name="object 3"/>
          <p:cNvGrpSpPr/>
          <p:nvPr/>
        </p:nvGrpSpPr>
        <p:grpSpPr>
          <a:xfrm>
            <a:off x="624636" y="4374975"/>
            <a:ext cx="3293745" cy="85090"/>
            <a:chOff x="624636" y="4374975"/>
            <a:chExt cx="3293745" cy="85090"/>
          </a:xfrm>
        </p:grpSpPr>
        <p:sp>
          <p:nvSpPr>
            <p:cNvPr id="4" name="object 4"/>
            <p:cNvSpPr/>
            <p:nvPr/>
          </p:nvSpPr>
          <p:spPr>
            <a:xfrm>
              <a:off x="643889" y="4398882"/>
              <a:ext cx="3255645" cy="40005"/>
            </a:xfrm>
            <a:custGeom>
              <a:avLst/>
              <a:gdLst/>
              <a:ahLst/>
              <a:cxnLst/>
              <a:rect l="l" t="t" r="r" b="b"/>
              <a:pathLst>
                <a:path w="3255645" h="40004">
                  <a:moveTo>
                    <a:pt x="951941" y="23"/>
                  </a:moveTo>
                  <a:lnTo>
                    <a:pt x="910692" y="0"/>
                  </a:lnTo>
                  <a:lnTo>
                    <a:pt x="870783" y="747"/>
                  </a:lnTo>
                  <a:lnTo>
                    <a:pt x="830133" y="2115"/>
                  </a:lnTo>
                  <a:lnTo>
                    <a:pt x="682926" y="8452"/>
                  </a:lnTo>
                  <a:lnTo>
                    <a:pt x="558271" y="12970"/>
                  </a:lnTo>
                  <a:lnTo>
                    <a:pt x="409554" y="18911"/>
                  </a:lnTo>
                  <a:lnTo>
                    <a:pt x="365953" y="20334"/>
                  </a:lnTo>
                  <a:lnTo>
                    <a:pt x="322995" y="21289"/>
                  </a:lnTo>
                  <a:lnTo>
                    <a:pt x="279274" y="21661"/>
                  </a:lnTo>
                  <a:lnTo>
                    <a:pt x="233383" y="21338"/>
                  </a:lnTo>
                  <a:lnTo>
                    <a:pt x="183916" y="20205"/>
                  </a:lnTo>
                  <a:lnTo>
                    <a:pt x="129467" y="18149"/>
                  </a:lnTo>
                  <a:lnTo>
                    <a:pt x="68630" y="15056"/>
                  </a:lnTo>
                  <a:lnTo>
                    <a:pt x="0" y="10811"/>
                  </a:lnTo>
                  <a:lnTo>
                    <a:pt x="368" y="17669"/>
                  </a:lnTo>
                  <a:lnTo>
                    <a:pt x="838" y="20336"/>
                  </a:lnTo>
                  <a:lnTo>
                    <a:pt x="0" y="29099"/>
                  </a:lnTo>
                  <a:lnTo>
                    <a:pt x="45461" y="28816"/>
                  </a:lnTo>
                  <a:lnTo>
                    <a:pt x="90446" y="28905"/>
                  </a:lnTo>
                  <a:lnTo>
                    <a:pt x="135407" y="29276"/>
                  </a:lnTo>
                  <a:lnTo>
                    <a:pt x="375756" y="32283"/>
                  </a:lnTo>
                  <a:lnTo>
                    <a:pt x="430114" y="32495"/>
                  </a:lnTo>
                  <a:lnTo>
                    <a:pt x="487627" y="32372"/>
                  </a:lnTo>
                  <a:lnTo>
                    <a:pt x="548750" y="31823"/>
                  </a:lnTo>
                  <a:lnTo>
                    <a:pt x="613936" y="30762"/>
                  </a:lnTo>
                  <a:lnTo>
                    <a:pt x="752525" y="27588"/>
                  </a:lnTo>
                  <a:lnTo>
                    <a:pt x="815491" y="26932"/>
                  </a:lnTo>
                  <a:lnTo>
                    <a:pt x="873298" y="26966"/>
                  </a:lnTo>
                  <a:lnTo>
                    <a:pt x="926705" y="27526"/>
                  </a:lnTo>
                  <a:lnTo>
                    <a:pt x="976472" y="28447"/>
                  </a:lnTo>
                  <a:lnTo>
                    <a:pt x="1111518" y="31735"/>
                  </a:lnTo>
                  <a:lnTo>
                    <a:pt x="1154314" y="32458"/>
                  </a:lnTo>
                  <a:lnTo>
                    <a:pt x="1197265" y="32720"/>
                  </a:lnTo>
                  <a:lnTo>
                    <a:pt x="1241131" y="32357"/>
                  </a:lnTo>
                  <a:lnTo>
                    <a:pt x="1286670" y="31205"/>
                  </a:lnTo>
                  <a:lnTo>
                    <a:pt x="1389143" y="26494"/>
                  </a:lnTo>
                  <a:lnTo>
                    <a:pt x="1437057" y="24823"/>
                  </a:lnTo>
                  <a:lnTo>
                    <a:pt x="1480302" y="23947"/>
                  </a:lnTo>
                  <a:lnTo>
                    <a:pt x="1520795" y="23729"/>
                  </a:lnTo>
                  <a:lnTo>
                    <a:pt x="1560450" y="24033"/>
                  </a:lnTo>
                  <a:lnTo>
                    <a:pt x="1749023" y="27708"/>
                  </a:lnTo>
                  <a:lnTo>
                    <a:pt x="1813236" y="28555"/>
                  </a:lnTo>
                  <a:lnTo>
                    <a:pt x="1888109" y="29099"/>
                  </a:lnTo>
                  <a:lnTo>
                    <a:pt x="1951082" y="28991"/>
                  </a:lnTo>
                  <a:lnTo>
                    <a:pt x="2012907" y="28233"/>
                  </a:lnTo>
                  <a:lnTo>
                    <a:pt x="2073418" y="26991"/>
                  </a:lnTo>
                  <a:lnTo>
                    <a:pt x="2132445" y="25434"/>
                  </a:lnTo>
                  <a:lnTo>
                    <a:pt x="2298954" y="20527"/>
                  </a:lnTo>
                  <a:lnTo>
                    <a:pt x="2350372" y="19369"/>
                  </a:lnTo>
                  <a:lnTo>
                    <a:pt x="2399469" y="18727"/>
                  </a:lnTo>
                  <a:lnTo>
                    <a:pt x="2446077" y="18769"/>
                  </a:lnTo>
                  <a:lnTo>
                    <a:pt x="2490028" y="19660"/>
                  </a:lnTo>
                  <a:lnTo>
                    <a:pt x="2531154" y="21568"/>
                  </a:lnTo>
                  <a:lnTo>
                    <a:pt x="2569288" y="24659"/>
                  </a:lnTo>
                  <a:lnTo>
                    <a:pt x="2604262" y="29099"/>
                  </a:lnTo>
                  <a:lnTo>
                    <a:pt x="2643589" y="33817"/>
                  </a:lnTo>
                  <a:lnTo>
                    <a:pt x="2689040" y="36974"/>
                  </a:lnTo>
                  <a:lnTo>
                    <a:pt x="2739433" y="38781"/>
                  </a:lnTo>
                  <a:lnTo>
                    <a:pt x="2793586" y="39450"/>
                  </a:lnTo>
                  <a:lnTo>
                    <a:pt x="2850318" y="39192"/>
                  </a:lnTo>
                  <a:lnTo>
                    <a:pt x="2908448" y="38218"/>
                  </a:lnTo>
                  <a:lnTo>
                    <a:pt x="2966795" y="36740"/>
                  </a:lnTo>
                  <a:lnTo>
                    <a:pt x="3178718" y="30003"/>
                  </a:lnTo>
                  <a:lnTo>
                    <a:pt x="3220426" y="29170"/>
                  </a:lnTo>
                  <a:lnTo>
                    <a:pt x="3255264" y="29099"/>
                  </a:lnTo>
                  <a:lnTo>
                    <a:pt x="3255645" y="20336"/>
                  </a:lnTo>
                  <a:lnTo>
                    <a:pt x="3255010" y="15256"/>
                  </a:lnTo>
                  <a:lnTo>
                    <a:pt x="3255264" y="10811"/>
                  </a:lnTo>
                  <a:lnTo>
                    <a:pt x="3201583" y="15835"/>
                  </a:lnTo>
                  <a:lnTo>
                    <a:pt x="3146724" y="18950"/>
                  </a:lnTo>
                  <a:lnTo>
                    <a:pt x="3091083" y="20431"/>
                  </a:lnTo>
                  <a:lnTo>
                    <a:pt x="3035056" y="20552"/>
                  </a:lnTo>
                  <a:lnTo>
                    <a:pt x="2979039" y="19588"/>
                  </a:lnTo>
                  <a:lnTo>
                    <a:pt x="2923428" y="17816"/>
                  </a:lnTo>
                  <a:lnTo>
                    <a:pt x="2868620" y="15508"/>
                  </a:lnTo>
                  <a:lnTo>
                    <a:pt x="2712974" y="8130"/>
                  </a:lnTo>
                  <a:lnTo>
                    <a:pt x="2665338" y="6435"/>
                  </a:lnTo>
                  <a:lnTo>
                    <a:pt x="2620487" y="5581"/>
                  </a:lnTo>
                  <a:lnTo>
                    <a:pt x="2578816" y="5842"/>
                  </a:lnTo>
                  <a:lnTo>
                    <a:pt x="2540721" y="7494"/>
                  </a:lnTo>
                  <a:lnTo>
                    <a:pt x="2463528" y="15080"/>
                  </a:lnTo>
                  <a:lnTo>
                    <a:pt x="2415144" y="17496"/>
                  </a:lnTo>
                  <a:lnTo>
                    <a:pt x="2362579" y="18384"/>
                  </a:lnTo>
                  <a:lnTo>
                    <a:pt x="2306964" y="18064"/>
                  </a:lnTo>
                  <a:lnTo>
                    <a:pt x="2249432" y="16861"/>
                  </a:lnTo>
                  <a:lnTo>
                    <a:pt x="2191115" y="15097"/>
                  </a:lnTo>
                  <a:lnTo>
                    <a:pt x="2076652" y="11178"/>
                  </a:lnTo>
                  <a:lnTo>
                    <a:pt x="2022770" y="9668"/>
                  </a:lnTo>
                  <a:lnTo>
                    <a:pt x="1972631" y="8889"/>
                  </a:lnTo>
                  <a:lnTo>
                    <a:pt x="1927367" y="9162"/>
                  </a:lnTo>
                  <a:lnTo>
                    <a:pt x="1888109" y="10811"/>
                  </a:lnTo>
                  <a:lnTo>
                    <a:pt x="1854929" y="12896"/>
                  </a:lnTo>
                  <a:lnTo>
                    <a:pt x="1817241" y="14917"/>
                  </a:lnTo>
                  <a:lnTo>
                    <a:pt x="1775479" y="16809"/>
                  </a:lnTo>
                  <a:lnTo>
                    <a:pt x="1730080" y="18509"/>
                  </a:lnTo>
                  <a:lnTo>
                    <a:pt x="1681479" y="19952"/>
                  </a:lnTo>
                  <a:lnTo>
                    <a:pt x="1630114" y="21075"/>
                  </a:lnTo>
                  <a:lnTo>
                    <a:pt x="1576419" y="21813"/>
                  </a:lnTo>
                  <a:lnTo>
                    <a:pt x="1520830" y="22101"/>
                  </a:lnTo>
                  <a:lnTo>
                    <a:pt x="1463785" y="21877"/>
                  </a:lnTo>
                  <a:lnTo>
                    <a:pt x="1405718" y="21075"/>
                  </a:lnTo>
                  <a:lnTo>
                    <a:pt x="1347065" y="19632"/>
                  </a:lnTo>
                  <a:lnTo>
                    <a:pt x="1288263" y="17483"/>
                  </a:lnTo>
                  <a:lnTo>
                    <a:pt x="1229748" y="14564"/>
                  </a:lnTo>
                  <a:lnTo>
                    <a:pt x="1104537" y="6211"/>
                  </a:lnTo>
                  <a:lnTo>
                    <a:pt x="1046782" y="2979"/>
                  </a:lnTo>
                  <a:lnTo>
                    <a:pt x="996610" y="966"/>
                  </a:lnTo>
                  <a:lnTo>
                    <a:pt x="951941" y="23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686" y="4394025"/>
              <a:ext cx="3255645" cy="46990"/>
            </a:xfrm>
            <a:custGeom>
              <a:avLst/>
              <a:gdLst/>
              <a:ahLst/>
              <a:cxnLst/>
              <a:rect l="l" t="t" r="r" b="b"/>
              <a:pathLst>
                <a:path w="3255645" h="46989">
                  <a:moveTo>
                    <a:pt x="203" y="15668"/>
                  </a:moveTo>
                  <a:lnTo>
                    <a:pt x="59845" y="10650"/>
                  </a:lnTo>
                  <a:lnTo>
                    <a:pt x="118558" y="6628"/>
                  </a:lnTo>
                  <a:lnTo>
                    <a:pt x="176179" y="3577"/>
                  </a:lnTo>
                  <a:lnTo>
                    <a:pt x="232544" y="1472"/>
                  </a:lnTo>
                  <a:lnTo>
                    <a:pt x="287492" y="288"/>
                  </a:lnTo>
                  <a:lnTo>
                    <a:pt x="340858" y="0"/>
                  </a:lnTo>
                  <a:lnTo>
                    <a:pt x="392479" y="581"/>
                  </a:lnTo>
                  <a:lnTo>
                    <a:pt x="442193" y="2009"/>
                  </a:lnTo>
                  <a:lnTo>
                    <a:pt x="489835" y="4256"/>
                  </a:lnTo>
                  <a:lnTo>
                    <a:pt x="535244" y="7298"/>
                  </a:lnTo>
                  <a:lnTo>
                    <a:pt x="578255" y="11111"/>
                  </a:lnTo>
                  <a:lnTo>
                    <a:pt x="618705" y="15668"/>
                  </a:lnTo>
                  <a:lnTo>
                    <a:pt x="655602" y="19572"/>
                  </a:lnTo>
                  <a:lnTo>
                    <a:pt x="694178" y="22295"/>
                  </a:lnTo>
                  <a:lnTo>
                    <a:pt x="734574" y="23982"/>
                  </a:lnTo>
                  <a:lnTo>
                    <a:pt x="776931" y="24777"/>
                  </a:lnTo>
                  <a:lnTo>
                    <a:pt x="821391" y="24825"/>
                  </a:lnTo>
                  <a:lnTo>
                    <a:pt x="868094" y="24270"/>
                  </a:lnTo>
                  <a:lnTo>
                    <a:pt x="917183" y="23258"/>
                  </a:lnTo>
                  <a:lnTo>
                    <a:pt x="968797" y="21932"/>
                  </a:lnTo>
                  <a:lnTo>
                    <a:pt x="1023078" y="20438"/>
                  </a:lnTo>
                  <a:lnTo>
                    <a:pt x="1080167" y="18920"/>
                  </a:lnTo>
                  <a:lnTo>
                    <a:pt x="1140206" y="17522"/>
                  </a:lnTo>
                  <a:lnTo>
                    <a:pt x="1203334" y="16390"/>
                  </a:lnTo>
                  <a:lnTo>
                    <a:pt x="1269695" y="15668"/>
                  </a:lnTo>
                  <a:lnTo>
                    <a:pt x="1335573" y="15443"/>
                  </a:lnTo>
                  <a:lnTo>
                    <a:pt x="1397479" y="15638"/>
                  </a:lnTo>
                  <a:lnTo>
                    <a:pt x="1455893" y="16147"/>
                  </a:lnTo>
                  <a:lnTo>
                    <a:pt x="1511294" y="16867"/>
                  </a:lnTo>
                  <a:lnTo>
                    <a:pt x="1564161" y="17694"/>
                  </a:lnTo>
                  <a:lnTo>
                    <a:pt x="1614972" y="18523"/>
                  </a:lnTo>
                  <a:lnTo>
                    <a:pt x="1664207" y="19252"/>
                  </a:lnTo>
                  <a:lnTo>
                    <a:pt x="1712345" y="19775"/>
                  </a:lnTo>
                  <a:lnTo>
                    <a:pt x="1759864" y="19988"/>
                  </a:lnTo>
                  <a:lnTo>
                    <a:pt x="1807243" y="19789"/>
                  </a:lnTo>
                  <a:lnTo>
                    <a:pt x="1854963" y="19071"/>
                  </a:lnTo>
                  <a:lnTo>
                    <a:pt x="1903500" y="17732"/>
                  </a:lnTo>
                  <a:lnTo>
                    <a:pt x="1953336" y="15668"/>
                  </a:lnTo>
                  <a:lnTo>
                    <a:pt x="2005009" y="13799"/>
                  </a:lnTo>
                  <a:lnTo>
                    <a:pt x="2058446" y="12982"/>
                  </a:lnTo>
                  <a:lnTo>
                    <a:pt x="2113210" y="13015"/>
                  </a:lnTo>
                  <a:lnTo>
                    <a:pt x="2168858" y="13695"/>
                  </a:lnTo>
                  <a:lnTo>
                    <a:pt x="2224952" y="14822"/>
                  </a:lnTo>
                  <a:lnTo>
                    <a:pt x="2281053" y="16193"/>
                  </a:lnTo>
                  <a:lnTo>
                    <a:pt x="2336719" y="17606"/>
                  </a:lnTo>
                  <a:lnTo>
                    <a:pt x="2391511" y="18859"/>
                  </a:lnTo>
                  <a:lnTo>
                    <a:pt x="2444991" y="19751"/>
                  </a:lnTo>
                  <a:lnTo>
                    <a:pt x="2496717" y="20080"/>
                  </a:lnTo>
                  <a:lnTo>
                    <a:pt x="2546249" y="19644"/>
                  </a:lnTo>
                  <a:lnTo>
                    <a:pt x="2593149" y="18240"/>
                  </a:lnTo>
                  <a:lnTo>
                    <a:pt x="2636977" y="15668"/>
                  </a:lnTo>
                  <a:lnTo>
                    <a:pt x="2684956" y="12838"/>
                  </a:lnTo>
                  <a:lnTo>
                    <a:pt x="2736916" y="11197"/>
                  </a:lnTo>
                  <a:lnTo>
                    <a:pt x="2791855" y="10542"/>
                  </a:lnTo>
                  <a:lnTo>
                    <a:pt x="2848775" y="10673"/>
                  </a:lnTo>
                  <a:lnTo>
                    <a:pt x="2906676" y="11385"/>
                  </a:lnTo>
                  <a:lnTo>
                    <a:pt x="2964557" y="12477"/>
                  </a:lnTo>
                  <a:lnTo>
                    <a:pt x="3021420" y="13747"/>
                  </a:lnTo>
                  <a:lnTo>
                    <a:pt x="3076265" y="14991"/>
                  </a:lnTo>
                  <a:lnTo>
                    <a:pt x="3128092" y="16007"/>
                  </a:lnTo>
                  <a:lnTo>
                    <a:pt x="3175901" y="16594"/>
                  </a:lnTo>
                  <a:lnTo>
                    <a:pt x="3218692" y="16549"/>
                  </a:lnTo>
                  <a:lnTo>
                    <a:pt x="3255467" y="15668"/>
                  </a:lnTo>
                  <a:lnTo>
                    <a:pt x="3254705" y="23796"/>
                  </a:lnTo>
                  <a:lnTo>
                    <a:pt x="3255086" y="27733"/>
                  </a:lnTo>
                  <a:lnTo>
                    <a:pt x="3255467" y="33956"/>
                  </a:lnTo>
                  <a:lnTo>
                    <a:pt x="3216374" y="34716"/>
                  </a:lnTo>
                  <a:lnTo>
                    <a:pt x="3171163" y="34943"/>
                  </a:lnTo>
                  <a:lnTo>
                    <a:pt x="3120898" y="34740"/>
                  </a:lnTo>
                  <a:lnTo>
                    <a:pt x="3066647" y="34212"/>
                  </a:lnTo>
                  <a:lnTo>
                    <a:pt x="3009474" y="33463"/>
                  </a:lnTo>
                  <a:lnTo>
                    <a:pt x="2950446" y="32597"/>
                  </a:lnTo>
                  <a:lnTo>
                    <a:pt x="2890627" y="31718"/>
                  </a:lnTo>
                  <a:lnTo>
                    <a:pt x="2831085" y="30930"/>
                  </a:lnTo>
                  <a:lnTo>
                    <a:pt x="2772885" y="30338"/>
                  </a:lnTo>
                  <a:lnTo>
                    <a:pt x="2717092" y="30046"/>
                  </a:lnTo>
                  <a:lnTo>
                    <a:pt x="2664773" y="30158"/>
                  </a:lnTo>
                  <a:lnTo>
                    <a:pt x="2616993" y="30777"/>
                  </a:lnTo>
                  <a:lnTo>
                    <a:pt x="2574818" y="32008"/>
                  </a:lnTo>
                  <a:lnTo>
                    <a:pt x="2539314" y="33956"/>
                  </a:lnTo>
                  <a:lnTo>
                    <a:pt x="2505914" y="35586"/>
                  </a:lnTo>
                  <a:lnTo>
                    <a:pt x="2429882" y="35335"/>
                  </a:lnTo>
                  <a:lnTo>
                    <a:pt x="2387439" y="33956"/>
                  </a:lnTo>
                  <a:lnTo>
                    <a:pt x="2342169" y="32075"/>
                  </a:lnTo>
                  <a:lnTo>
                    <a:pt x="2294169" y="29944"/>
                  </a:lnTo>
                  <a:lnTo>
                    <a:pt x="2243531" y="27812"/>
                  </a:lnTo>
                  <a:lnTo>
                    <a:pt x="2190350" y="25932"/>
                  </a:lnTo>
                  <a:lnTo>
                    <a:pt x="2134722" y="24553"/>
                  </a:lnTo>
                  <a:lnTo>
                    <a:pt x="2076739" y="23926"/>
                  </a:lnTo>
                  <a:lnTo>
                    <a:pt x="2016498" y="24302"/>
                  </a:lnTo>
                  <a:lnTo>
                    <a:pt x="1954091" y="25932"/>
                  </a:lnTo>
                  <a:lnTo>
                    <a:pt x="1889614" y="29066"/>
                  </a:lnTo>
                  <a:lnTo>
                    <a:pt x="1823161" y="33956"/>
                  </a:lnTo>
                  <a:lnTo>
                    <a:pt x="1755167" y="39361"/>
                  </a:lnTo>
                  <a:lnTo>
                    <a:pt x="1695419" y="43109"/>
                  </a:lnTo>
                  <a:lnTo>
                    <a:pt x="1642482" y="45407"/>
                  </a:lnTo>
                  <a:lnTo>
                    <a:pt x="1594923" y="46461"/>
                  </a:lnTo>
                  <a:lnTo>
                    <a:pt x="1551306" y="46477"/>
                  </a:lnTo>
                  <a:lnTo>
                    <a:pt x="1510197" y="45661"/>
                  </a:lnTo>
                  <a:lnTo>
                    <a:pt x="1470162" y="44219"/>
                  </a:lnTo>
                  <a:lnTo>
                    <a:pt x="1429765" y="42357"/>
                  </a:lnTo>
                  <a:lnTo>
                    <a:pt x="1387573" y="40280"/>
                  </a:lnTo>
                  <a:lnTo>
                    <a:pt x="1342151" y="38196"/>
                  </a:lnTo>
                  <a:lnTo>
                    <a:pt x="1292064" y="36310"/>
                  </a:lnTo>
                  <a:lnTo>
                    <a:pt x="1235878" y="34828"/>
                  </a:lnTo>
                  <a:lnTo>
                    <a:pt x="1172159" y="33956"/>
                  </a:lnTo>
                  <a:lnTo>
                    <a:pt x="1133587" y="33803"/>
                  </a:lnTo>
                  <a:lnTo>
                    <a:pt x="1094660" y="33886"/>
                  </a:lnTo>
                  <a:lnTo>
                    <a:pt x="1055269" y="34174"/>
                  </a:lnTo>
                  <a:lnTo>
                    <a:pt x="1015303" y="34634"/>
                  </a:lnTo>
                  <a:lnTo>
                    <a:pt x="974652" y="35236"/>
                  </a:lnTo>
                  <a:lnTo>
                    <a:pt x="933205" y="35946"/>
                  </a:lnTo>
                  <a:lnTo>
                    <a:pt x="890853" y="36734"/>
                  </a:lnTo>
                  <a:lnTo>
                    <a:pt x="847486" y="37567"/>
                  </a:lnTo>
                  <a:lnTo>
                    <a:pt x="802993" y="38415"/>
                  </a:lnTo>
                  <a:lnTo>
                    <a:pt x="757264" y="39244"/>
                  </a:lnTo>
                  <a:lnTo>
                    <a:pt x="710189" y="40024"/>
                  </a:lnTo>
                  <a:lnTo>
                    <a:pt x="661658" y="40723"/>
                  </a:lnTo>
                  <a:lnTo>
                    <a:pt x="611560" y="41308"/>
                  </a:lnTo>
                  <a:lnTo>
                    <a:pt x="559786" y="41749"/>
                  </a:lnTo>
                  <a:lnTo>
                    <a:pt x="506226" y="42013"/>
                  </a:lnTo>
                  <a:lnTo>
                    <a:pt x="450768" y="42068"/>
                  </a:lnTo>
                  <a:lnTo>
                    <a:pt x="393304" y="41884"/>
                  </a:lnTo>
                  <a:lnTo>
                    <a:pt x="333722" y="41427"/>
                  </a:lnTo>
                  <a:lnTo>
                    <a:pt x="271914" y="40667"/>
                  </a:lnTo>
                  <a:lnTo>
                    <a:pt x="207767" y="39572"/>
                  </a:lnTo>
                  <a:lnTo>
                    <a:pt x="141174" y="38110"/>
                  </a:lnTo>
                  <a:lnTo>
                    <a:pt x="72022" y="36248"/>
                  </a:lnTo>
                  <a:lnTo>
                    <a:pt x="203" y="33956"/>
                  </a:lnTo>
                  <a:lnTo>
                    <a:pt x="152" y="28114"/>
                  </a:lnTo>
                  <a:lnTo>
                    <a:pt x="0" y="22145"/>
                  </a:lnTo>
                  <a:lnTo>
                    <a:pt x="203" y="15668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8154" y="1296527"/>
            <a:ext cx="6366898" cy="4336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3024</Words>
  <Application>Microsoft Office PowerPoint</Application>
  <PresentationFormat>Widescreen</PresentationFormat>
  <Paragraphs>460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Arial MT</vt:lpstr>
      <vt:lpstr>Calibri</vt:lpstr>
      <vt:lpstr>Calibri Light</vt:lpstr>
      <vt:lpstr>Courier New</vt:lpstr>
      <vt:lpstr>Times New Roman</vt:lpstr>
      <vt:lpstr>Office Theme</vt:lpstr>
      <vt:lpstr>Object Oriented Programming</vt:lpstr>
      <vt:lpstr>C++ : Pointers</vt:lpstr>
      <vt:lpstr>Output 0x7fff5fbff8ac 0x7fff5fbff8a8 0x7fff5fbff8a4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 Pointers and Functions: Passing Pointer Variables</vt:lpstr>
      <vt:lpstr>C++ : Pointers</vt:lpstr>
      <vt:lpstr>Have a Nice 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Imran Babar</dc:creator>
  <cp:lastModifiedBy>Nabeela Ashraf</cp:lastModifiedBy>
  <cp:revision>8</cp:revision>
  <dcterms:created xsi:type="dcterms:W3CDTF">2025-09-24T09:54:49Z</dcterms:created>
  <dcterms:modified xsi:type="dcterms:W3CDTF">2025-09-24T10:14:32Z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2023-01-31T00:00:00Z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2025-09-24T00:00:00Z</vt:filetime>
  </property>
  <property fmtid="{D5CDD505-2E9C-101B-9397-08002B2CF9AE}" pid="5" name="Producer">
    <vt:lpwstr>Microsoft® PowerPoint® for Microsoft 365</vt:lpwstr>
  </property>
</Properties>
</file>