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8" r:id="rId3"/>
    <p:sldId id="319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16" r:id="rId12"/>
  </p:sldIdLst>
  <p:sldSz cx="12192000" cy="6858000"/>
  <p:notesSz cx="6858000" cy="9144000"/>
  <p:defaultTextStyle>
    <a:defPPr>
      <a:defRPr lang="en-U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2463-141F-251F-5C8F-B282DBCA3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FA06E2-79FF-7F79-A061-B1DDE19DC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9E92C-EE01-0CB4-F901-22A92F55C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C243-3E9C-4DBA-BD1D-DA9371AB3631}" type="datetimeFigureOut">
              <a:rPr lang="en-UM" smtClean="0"/>
              <a:t>10/19/2025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E6C9E-0979-F31D-B5E7-23E709DD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8ED47-C88C-B538-676B-938AA4492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976F-B811-4B35-89F2-5BCA753A9AF2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1122433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9ED3-0008-A1ED-5D58-D5C01063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AC508-8F12-A73B-98BC-DC9036D45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19733-9055-1CB0-8C31-0004240C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C243-3E9C-4DBA-BD1D-DA9371AB3631}" type="datetimeFigureOut">
              <a:rPr lang="en-UM" smtClean="0"/>
              <a:t>10/19/2025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1978-1F4C-784B-76D5-956762869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B4714-AEB1-DE10-FF73-FEB4136F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976F-B811-4B35-89F2-5BCA753A9AF2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72719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015A-BA45-FC68-1EEE-B46C3BC93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A8D29-C3C4-27EE-EB7C-9C9872F2C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5EA26-3A34-5D04-7571-E1C67F3B5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C243-3E9C-4DBA-BD1D-DA9371AB3631}" type="datetimeFigureOut">
              <a:rPr lang="en-UM" smtClean="0"/>
              <a:t>10/19/2025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8ACBE-182D-6DA8-A138-A40AAAC86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D05F9-61D5-6E3D-43F2-F1F9E2DA5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976F-B811-4B35-89F2-5BCA753A9AF2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785766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14B85-0BEB-9610-4359-C457C1D9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03403-8AE5-D10F-3E2D-DCC3C3D72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3A613-DB4F-39B7-4347-F24AA8207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92315-3654-6F79-6E7E-5C8379E8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C243-3E9C-4DBA-BD1D-DA9371AB3631}" type="datetimeFigureOut">
              <a:rPr lang="en-UM" smtClean="0"/>
              <a:t>10/19/2025</a:t>
            </a:fld>
            <a:endParaRPr lang="en-U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EE4D2-3B4B-40D6-2525-A26E358D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6F7E2-F3D1-F174-C13F-F8592737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976F-B811-4B35-89F2-5BCA753A9AF2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82516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2792-2021-DEB2-40EE-331DD0CFC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B5836-2DA3-6131-AD70-AE10AB0E7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3C51F-C5FB-39C6-A2B9-2C3C631DE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10431-111C-84FB-7057-CFCDD76372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FA8A23-9610-F08A-D339-B9E9C0091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9A815D-8206-B94E-05AE-07E46F88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C243-3E9C-4DBA-BD1D-DA9371AB3631}" type="datetimeFigureOut">
              <a:rPr lang="en-UM" smtClean="0"/>
              <a:t>10/19/2025</a:t>
            </a:fld>
            <a:endParaRPr lang="en-U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B529E7-9366-0D4F-314E-FF756B6BA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F787E-9C1B-CF2C-5F5C-CBEFC380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976F-B811-4B35-89F2-5BCA753A9AF2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235739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3678-C5FB-BEBC-4952-D7E8544BA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A30DC-18B2-772F-5D9F-4D7B024B3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C243-3E9C-4DBA-BD1D-DA9371AB3631}" type="datetimeFigureOut">
              <a:rPr lang="en-UM" smtClean="0"/>
              <a:t>10/19/2025</a:t>
            </a:fld>
            <a:endParaRPr lang="en-U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30D88-0003-658D-EFF8-DD62C1BEF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C7CD6-9444-0C6C-6222-63AA8B81C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976F-B811-4B35-89F2-5BCA753A9AF2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296576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C4D54B-F5B4-2876-6BCE-6D7241893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C243-3E9C-4DBA-BD1D-DA9371AB3631}" type="datetimeFigureOut">
              <a:rPr lang="en-UM" smtClean="0"/>
              <a:t>10/19/2025</a:t>
            </a:fld>
            <a:endParaRPr lang="en-U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5116EA-CAD6-181F-2286-5B6DE4B6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F0D1D-B8EF-5F3C-09C0-BD7B177DF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976F-B811-4B35-89F2-5BCA753A9AF2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2762455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707CC-FA66-0C9B-CE22-76B0E28DB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8BB2B-6E2E-8218-A28E-93AC0EC03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B4D79-680D-6620-E601-434C3E3D8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80FD4-4129-0892-3301-4BCC56B6A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C243-3E9C-4DBA-BD1D-DA9371AB3631}" type="datetimeFigureOut">
              <a:rPr lang="en-UM" smtClean="0"/>
              <a:t>10/19/2025</a:t>
            </a:fld>
            <a:endParaRPr lang="en-U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C1A97-4AAF-4F3E-7D7F-C26015D3B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E2FDB-100C-84B3-F146-B004C201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976F-B811-4B35-89F2-5BCA753A9AF2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1802372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93493-A655-85D4-1108-D9696657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797D21-6CA4-4D3E-4EE6-227F6FBF9E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BE1C6-EDF6-A0BB-722C-7C266E0C0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82686-1742-A124-3520-DB9F4B5B4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C243-3E9C-4DBA-BD1D-DA9371AB3631}" type="datetimeFigureOut">
              <a:rPr lang="en-UM" smtClean="0"/>
              <a:t>10/19/2025</a:t>
            </a:fld>
            <a:endParaRPr lang="en-U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828ED-EB51-44D0-6638-E4B244D15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DCD5D-3586-507B-1AE6-F9E0EC97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976F-B811-4B35-89F2-5BCA753A9AF2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2676097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84582-F491-581F-25B7-0BD7F6AC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84AE5-4868-2F23-68C4-0280AC1FE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6EA0E-E659-120A-CA0F-46B5658FE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C243-3E9C-4DBA-BD1D-DA9371AB3631}" type="datetimeFigureOut">
              <a:rPr lang="en-UM" smtClean="0"/>
              <a:t>10/19/2025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982BE-4BB5-1F54-28D3-FDD88F64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45158-CFB3-B006-811E-9C0877A8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976F-B811-4B35-89F2-5BCA753A9AF2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845609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FB1AAD-2A2E-D776-45BE-2DEE7041DC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1E064-9D41-AEEF-8F85-EE160E8FF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357B3-0928-D527-3C78-DEC718F1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C243-3E9C-4DBA-BD1D-DA9371AB3631}" type="datetimeFigureOut">
              <a:rPr lang="en-UM" smtClean="0"/>
              <a:t>10/19/2025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5EE35-0672-43E1-1F3B-B89A34EC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BA64A-3EB7-2BF8-ECA6-5F7C6B53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976F-B811-4B35-89F2-5BCA753A9AF2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79119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34B69-3FAB-96CD-C0E6-9F262EA4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D26EA-EB15-79EA-3790-53E633EFB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BBD23-3CBB-4FBD-8CD5-E88546618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2C243-3E9C-4DBA-BD1D-DA9371AB3631}" type="datetimeFigureOut">
              <a:rPr lang="en-UM" smtClean="0"/>
              <a:t>10/19/2025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CAE42-85A2-E844-0D63-8625552D0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BC12E-A8FD-BEEA-D9DA-2A0367A15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4976F-B811-4B35-89F2-5BCA753A9AF2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84213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3321-BDEE-2787-2149-780557579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7082" y="-1056393"/>
            <a:ext cx="9647068" cy="2387600"/>
          </a:xfrm>
        </p:spPr>
        <p:txBody>
          <a:bodyPr/>
          <a:lstStyle/>
          <a:p>
            <a:r>
              <a:rPr lang="en-US" dirty="0"/>
              <a:t>Object Oriented Programming</a:t>
            </a:r>
            <a:endParaRPr lang="en-UM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C9AFB-A97C-8087-2D70-D80C3CDBB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946507"/>
          </a:xfrm>
        </p:spPr>
        <p:txBody>
          <a:bodyPr>
            <a:normAutofit/>
          </a:bodyPr>
          <a:lstStyle/>
          <a:p>
            <a:r>
              <a:rPr lang="en-US" dirty="0"/>
              <a:t>Nabeela Ashraf</a:t>
            </a:r>
          </a:p>
          <a:p>
            <a:r>
              <a:rPr lang="en-US" dirty="0"/>
              <a:t>Department of Computer Science</a:t>
            </a:r>
          </a:p>
          <a:p>
            <a:r>
              <a:rPr lang="en-US" dirty="0"/>
              <a:t>UAF</a:t>
            </a:r>
            <a:endParaRPr lang="en-UM" dirty="0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6B9CC1B9-325E-4633-63E1-3606E307D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148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443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2BF3-3AD5-954D-F0E7-5D413AB4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C++: Basics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B5A7-AE10-E0CB-5FBA-4E152E869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LECTURE OUTLINE</a:t>
            </a:r>
          </a:p>
          <a:p>
            <a:pPr marL="0" indent="0">
              <a:buNone/>
            </a:pPr>
            <a:endParaRPr lang="en-US" dirty="0">
              <a:solidFill>
                <a:srgbClr val="160C5C"/>
              </a:solidFill>
            </a:endParaRPr>
          </a:p>
          <a:p>
            <a:r>
              <a:rPr lang="en-US" dirty="0">
                <a:solidFill>
                  <a:srgbClr val="160C5C"/>
                </a:solidFill>
              </a:rPr>
              <a:t>Static Memory Allocation</a:t>
            </a:r>
          </a:p>
          <a:p>
            <a:r>
              <a:rPr lang="en-US" dirty="0">
                <a:solidFill>
                  <a:srgbClr val="160C5C"/>
                </a:solidFill>
              </a:rPr>
              <a:t>Dynamic Memory Allocation</a:t>
            </a:r>
          </a:p>
          <a:p>
            <a:r>
              <a:rPr lang="en-US" dirty="0">
                <a:solidFill>
                  <a:srgbClr val="160C5C"/>
                </a:solidFill>
              </a:rPr>
              <a:t>Pointers and 2D Arrays</a:t>
            </a:r>
          </a:p>
          <a:p>
            <a:pPr marL="0" indent="0">
              <a:buNone/>
            </a:pPr>
            <a:endParaRPr lang="en-US" dirty="0">
              <a:solidFill>
                <a:srgbClr val="160C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136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2BF3-3AD5-954D-F0E7-5D413AB4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C++: Concepts of Heap and Stack/2D Array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B5A7-AE10-E0CB-5FBA-4E152E869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125"/>
            <a:ext cx="4026763" cy="50477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0B0F0"/>
                </a:solidFill>
              </a:rPr>
              <a:t>Static Memory Allocation (SMA)</a:t>
            </a: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160C5C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solidFill>
                  <a:srgbClr val="160C5C"/>
                </a:solidFill>
              </a:rPr>
              <a:t>int a=35;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500" dirty="0">
              <a:solidFill>
                <a:srgbClr val="160C5C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solidFill>
                  <a:srgbClr val="160C5C"/>
                </a:solidFill>
              </a:rPr>
              <a:t>int *p;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solidFill>
                  <a:srgbClr val="160C5C"/>
                </a:solidFill>
              </a:rPr>
              <a:t>p=new int;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solidFill>
                  <a:srgbClr val="160C5C"/>
                </a:solidFill>
              </a:rPr>
              <a:t>*p=57;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solidFill>
                  <a:srgbClr val="160C5C"/>
                </a:solidFill>
              </a:rPr>
              <a:t>cout&lt;&lt;p&lt;&lt;</a:t>
            </a:r>
            <a:r>
              <a:rPr lang="en-US" sz="3500" dirty="0" err="1">
                <a:solidFill>
                  <a:srgbClr val="160C5C"/>
                </a:solidFill>
              </a:rPr>
              <a:t>endl</a:t>
            </a:r>
            <a:r>
              <a:rPr lang="en-US" sz="3500" dirty="0">
                <a:solidFill>
                  <a:srgbClr val="160C5C"/>
                </a:solidFill>
              </a:rPr>
              <a:t>&lt;&lt;*p;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solidFill>
                  <a:srgbClr val="160C5C"/>
                </a:solidFill>
              </a:rPr>
              <a:t>delete p;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3500" dirty="0">
              <a:solidFill>
                <a:srgbClr val="160C5C"/>
              </a:solidFill>
            </a:endParaRPr>
          </a:p>
        </p:txBody>
      </p:sp>
      <p:pic>
        <p:nvPicPr>
          <p:cNvPr id="4" name="Content Placeholder 4" descr="A picture containing text, gear, metalware&#10;&#10;Description automatically generated">
            <a:extLst>
              <a:ext uri="{FF2B5EF4-FFF2-40B4-BE49-F238E27FC236}">
                <a16:creationId xmlns:a16="http://schemas.microsoft.com/office/drawing/2014/main" id="{EBF3C35F-F22F-03EA-C4BD-48D84FAF6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35D521F-5B1B-9E94-396F-289D26A0A6DD}"/>
              </a:ext>
            </a:extLst>
          </p:cNvPr>
          <p:cNvSpPr txBox="1">
            <a:spLocks/>
          </p:cNvSpPr>
          <p:nvPr/>
        </p:nvSpPr>
        <p:spPr>
          <a:xfrm>
            <a:off x="5553722" y="1445125"/>
            <a:ext cx="4026763" cy="50477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600" b="1" dirty="0">
                <a:solidFill>
                  <a:srgbClr val="00B0F0"/>
                </a:solidFill>
              </a:rPr>
              <a:t>Dynamic Memory Allocation (DMA)</a:t>
            </a:r>
            <a:endParaRPr lang="en-US" b="1" dirty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160C5C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500" dirty="0">
                <a:solidFill>
                  <a:srgbClr val="160C5C"/>
                </a:solidFill>
              </a:rPr>
              <a:t>p=new int[4];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500" dirty="0">
                <a:solidFill>
                  <a:srgbClr val="160C5C"/>
                </a:solidFill>
              </a:rPr>
              <a:t>for(int </a:t>
            </a:r>
            <a:r>
              <a:rPr lang="en-US" sz="3500" dirty="0" err="1">
                <a:solidFill>
                  <a:srgbClr val="160C5C"/>
                </a:solidFill>
              </a:rPr>
              <a:t>i</a:t>
            </a:r>
            <a:r>
              <a:rPr lang="en-US" sz="3500" dirty="0">
                <a:solidFill>
                  <a:srgbClr val="160C5C"/>
                </a:solidFill>
              </a:rPr>
              <a:t>=0;i&lt;4;i++)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500" dirty="0" err="1">
                <a:solidFill>
                  <a:srgbClr val="160C5C"/>
                </a:solidFill>
              </a:rPr>
              <a:t>cin</a:t>
            </a:r>
            <a:r>
              <a:rPr lang="en-US" sz="3500" dirty="0">
                <a:solidFill>
                  <a:srgbClr val="160C5C"/>
                </a:solidFill>
              </a:rPr>
              <a:t>&gt;&gt;p[</a:t>
            </a:r>
            <a:r>
              <a:rPr lang="en-US" sz="3500" dirty="0" err="1">
                <a:solidFill>
                  <a:srgbClr val="160C5C"/>
                </a:solidFill>
              </a:rPr>
              <a:t>i</a:t>
            </a:r>
            <a:r>
              <a:rPr lang="en-US" sz="3500" dirty="0">
                <a:solidFill>
                  <a:srgbClr val="160C5C"/>
                </a:solidFill>
              </a:rPr>
              <a:t>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500" dirty="0">
                <a:solidFill>
                  <a:srgbClr val="160C5C"/>
                </a:solidFill>
              </a:rPr>
              <a:t>for(int j=0;j&lt;4;j++)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500" dirty="0">
                <a:solidFill>
                  <a:srgbClr val="160C5C"/>
                </a:solidFill>
              </a:rPr>
              <a:t>cout&lt;&lt;p[j];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3500" dirty="0">
              <a:solidFill>
                <a:srgbClr val="160C5C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500" dirty="0">
                <a:solidFill>
                  <a:srgbClr val="160C5C"/>
                </a:solidFill>
              </a:rPr>
              <a:t>delete [] p;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3500" dirty="0">
                <a:solidFill>
                  <a:srgbClr val="160C5C"/>
                </a:solidFill>
              </a:rPr>
              <a:t>p=NULL;</a:t>
            </a:r>
          </a:p>
        </p:txBody>
      </p:sp>
    </p:spTree>
    <p:extLst>
      <p:ext uri="{BB962C8B-B14F-4D97-AF65-F5344CB8AC3E}">
        <p14:creationId xmlns:p14="http://schemas.microsoft.com/office/powerpoint/2010/main" val="1974123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2BF3-3AD5-954D-F0E7-5D413AB4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C++: Concepts of Heap and Stack/2D Array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B5A7-AE10-E0CB-5FBA-4E152E869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14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Dynamic Memory Allocation (DMA): 2D Array </a:t>
            </a: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int rows, cols;</a:t>
            </a: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cout&lt;&lt;"Enter number of rows : ";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160C5C"/>
                </a:solidFill>
              </a:rPr>
              <a:t>cin</a:t>
            </a:r>
            <a:r>
              <a:rPr lang="en-US" dirty="0">
                <a:solidFill>
                  <a:srgbClr val="160C5C"/>
                </a:solidFill>
              </a:rPr>
              <a:t>&gt;&gt;rows;</a:t>
            </a: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cout&lt;&lt;"Enter number of cols : ";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160C5C"/>
                </a:solidFill>
              </a:rPr>
              <a:t>cin</a:t>
            </a:r>
            <a:r>
              <a:rPr lang="en-US" dirty="0">
                <a:solidFill>
                  <a:srgbClr val="160C5C"/>
                </a:solidFill>
              </a:rPr>
              <a:t>&gt;&gt;cols;</a:t>
            </a: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int **</a:t>
            </a:r>
            <a:r>
              <a:rPr lang="en-US" dirty="0" err="1">
                <a:solidFill>
                  <a:srgbClr val="160C5C"/>
                </a:solidFill>
              </a:rPr>
              <a:t>ptr</a:t>
            </a:r>
            <a:r>
              <a:rPr lang="en-US" dirty="0">
                <a:solidFill>
                  <a:srgbClr val="160C5C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160C5C"/>
                </a:solidFill>
              </a:rPr>
              <a:t>ptr</a:t>
            </a:r>
            <a:r>
              <a:rPr lang="en-US" dirty="0">
                <a:solidFill>
                  <a:srgbClr val="160C5C"/>
                </a:solidFill>
              </a:rPr>
              <a:t>=new int*[rows];</a:t>
            </a: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for(int </a:t>
            </a:r>
            <a:r>
              <a:rPr lang="en-US" dirty="0" err="1">
                <a:solidFill>
                  <a:srgbClr val="160C5C"/>
                </a:solidFill>
              </a:rPr>
              <a:t>i</a:t>
            </a:r>
            <a:r>
              <a:rPr lang="en-US" dirty="0">
                <a:solidFill>
                  <a:srgbClr val="160C5C"/>
                </a:solidFill>
              </a:rPr>
              <a:t>=0;i&lt;</a:t>
            </a:r>
            <a:r>
              <a:rPr lang="en-US" dirty="0" err="1">
                <a:solidFill>
                  <a:srgbClr val="160C5C"/>
                </a:solidFill>
              </a:rPr>
              <a:t>rows;i</a:t>
            </a:r>
            <a:r>
              <a:rPr lang="en-US" dirty="0">
                <a:solidFill>
                  <a:srgbClr val="160C5C"/>
                </a:solidFill>
              </a:rPr>
              <a:t>++)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160C5C"/>
                </a:solidFill>
              </a:rPr>
              <a:t>ptr</a:t>
            </a:r>
            <a:r>
              <a:rPr lang="en-US" dirty="0">
                <a:solidFill>
                  <a:srgbClr val="160C5C"/>
                </a:solidFill>
              </a:rPr>
              <a:t>[</a:t>
            </a:r>
            <a:r>
              <a:rPr lang="en-US" dirty="0" err="1">
                <a:solidFill>
                  <a:srgbClr val="160C5C"/>
                </a:solidFill>
              </a:rPr>
              <a:t>i</a:t>
            </a:r>
            <a:r>
              <a:rPr lang="en-US" dirty="0">
                <a:solidFill>
                  <a:srgbClr val="160C5C"/>
                </a:solidFill>
              </a:rPr>
              <a:t>]=new int[cols];</a:t>
            </a:r>
          </a:p>
        </p:txBody>
      </p:sp>
      <p:pic>
        <p:nvPicPr>
          <p:cNvPr id="4" name="Content Placeholder 4" descr="A picture containing text, gear, metalware&#10;&#10;Description automatically generated">
            <a:extLst>
              <a:ext uri="{FF2B5EF4-FFF2-40B4-BE49-F238E27FC236}">
                <a16:creationId xmlns:a16="http://schemas.microsoft.com/office/drawing/2014/main" id="{EBF3C35F-F22F-03EA-C4BD-48D84FAF6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10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2BF3-3AD5-954D-F0E7-5D413AB4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C++: Concepts of Heap and Stack/2D Array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B5A7-AE10-E0CB-5FBA-4E152E869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14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Dynamic Memory Allocation (DMA): 2D Array</a:t>
            </a: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for(int </a:t>
            </a:r>
            <a:r>
              <a:rPr lang="en-US" dirty="0" err="1">
                <a:solidFill>
                  <a:srgbClr val="160C5C"/>
                </a:solidFill>
              </a:rPr>
              <a:t>i</a:t>
            </a:r>
            <a:r>
              <a:rPr lang="en-US" dirty="0">
                <a:solidFill>
                  <a:srgbClr val="160C5C"/>
                </a:solidFill>
              </a:rPr>
              <a:t>=0;i&lt;</a:t>
            </a:r>
            <a:r>
              <a:rPr lang="en-US" dirty="0" err="1">
                <a:solidFill>
                  <a:srgbClr val="160C5C"/>
                </a:solidFill>
              </a:rPr>
              <a:t>rows;i</a:t>
            </a:r>
            <a:r>
              <a:rPr lang="en-US" dirty="0">
                <a:solidFill>
                  <a:srgbClr val="160C5C"/>
                </a:solidFill>
              </a:rPr>
              <a:t>++)</a:t>
            </a: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for(int j=0;j&lt;</a:t>
            </a:r>
            <a:r>
              <a:rPr lang="en-US" dirty="0" err="1">
                <a:solidFill>
                  <a:srgbClr val="160C5C"/>
                </a:solidFill>
              </a:rPr>
              <a:t>cols;j</a:t>
            </a:r>
            <a:r>
              <a:rPr lang="en-US" dirty="0">
                <a:solidFill>
                  <a:srgbClr val="160C5C"/>
                </a:solidFill>
              </a:rPr>
              <a:t>++)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160C5C"/>
                </a:solidFill>
              </a:rPr>
              <a:t>cin</a:t>
            </a:r>
            <a:r>
              <a:rPr lang="en-US" dirty="0">
                <a:solidFill>
                  <a:srgbClr val="160C5C"/>
                </a:solidFill>
              </a:rPr>
              <a:t>&gt;&gt;</a:t>
            </a:r>
            <a:r>
              <a:rPr lang="en-US" dirty="0" err="1">
                <a:solidFill>
                  <a:srgbClr val="160C5C"/>
                </a:solidFill>
              </a:rPr>
              <a:t>ptr</a:t>
            </a:r>
            <a:r>
              <a:rPr lang="en-US" dirty="0">
                <a:solidFill>
                  <a:srgbClr val="160C5C"/>
                </a:solidFill>
              </a:rPr>
              <a:t>[</a:t>
            </a:r>
            <a:r>
              <a:rPr lang="en-US" dirty="0" err="1">
                <a:solidFill>
                  <a:srgbClr val="160C5C"/>
                </a:solidFill>
              </a:rPr>
              <a:t>i</a:t>
            </a:r>
            <a:r>
              <a:rPr lang="en-US" dirty="0">
                <a:solidFill>
                  <a:srgbClr val="160C5C"/>
                </a:solidFill>
              </a:rPr>
              <a:t>][j];</a:t>
            </a:r>
          </a:p>
          <a:p>
            <a:pPr marL="0" indent="0">
              <a:buNone/>
            </a:pPr>
            <a:endParaRPr lang="en-US" dirty="0">
              <a:solidFill>
                <a:srgbClr val="160C5C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for(int </a:t>
            </a:r>
            <a:r>
              <a:rPr lang="en-US" dirty="0" err="1">
                <a:solidFill>
                  <a:srgbClr val="160C5C"/>
                </a:solidFill>
              </a:rPr>
              <a:t>i</a:t>
            </a:r>
            <a:r>
              <a:rPr lang="en-US" dirty="0">
                <a:solidFill>
                  <a:srgbClr val="160C5C"/>
                </a:solidFill>
              </a:rPr>
              <a:t>=0;i&lt;</a:t>
            </a:r>
            <a:r>
              <a:rPr lang="en-US" dirty="0" err="1">
                <a:solidFill>
                  <a:srgbClr val="160C5C"/>
                </a:solidFill>
              </a:rPr>
              <a:t>rows;i</a:t>
            </a:r>
            <a:r>
              <a:rPr lang="en-US" dirty="0">
                <a:solidFill>
                  <a:srgbClr val="160C5C"/>
                </a:solidFill>
              </a:rPr>
              <a:t>++){</a:t>
            </a: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for(int j=0;j&lt;</a:t>
            </a:r>
            <a:r>
              <a:rPr lang="en-US" dirty="0" err="1">
                <a:solidFill>
                  <a:srgbClr val="160C5C"/>
                </a:solidFill>
              </a:rPr>
              <a:t>cols;j</a:t>
            </a:r>
            <a:r>
              <a:rPr lang="en-US" dirty="0">
                <a:solidFill>
                  <a:srgbClr val="160C5C"/>
                </a:solidFill>
              </a:rPr>
              <a:t>++)</a:t>
            </a: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cout&lt;&lt;</a:t>
            </a:r>
            <a:r>
              <a:rPr lang="en-US" dirty="0" err="1">
                <a:solidFill>
                  <a:srgbClr val="160C5C"/>
                </a:solidFill>
              </a:rPr>
              <a:t>setw</a:t>
            </a:r>
            <a:r>
              <a:rPr lang="en-US" dirty="0">
                <a:solidFill>
                  <a:srgbClr val="160C5C"/>
                </a:solidFill>
              </a:rPr>
              <a:t>(3)&lt;&lt;</a:t>
            </a:r>
            <a:r>
              <a:rPr lang="en-US" dirty="0" err="1">
                <a:solidFill>
                  <a:srgbClr val="160C5C"/>
                </a:solidFill>
              </a:rPr>
              <a:t>ptr</a:t>
            </a:r>
            <a:r>
              <a:rPr lang="en-US" dirty="0">
                <a:solidFill>
                  <a:srgbClr val="160C5C"/>
                </a:solidFill>
              </a:rPr>
              <a:t>[</a:t>
            </a:r>
            <a:r>
              <a:rPr lang="en-US" dirty="0" err="1">
                <a:solidFill>
                  <a:srgbClr val="160C5C"/>
                </a:solidFill>
              </a:rPr>
              <a:t>i</a:t>
            </a:r>
            <a:r>
              <a:rPr lang="en-US" dirty="0">
                <a:solidFill>
                  <a:srgbClr val="160C5C"/>
                </a:solidFill>
              </a:rPr>
              <a:t>][j];</a:t>
            </a: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cout&lt;&lt;</a:t>
            </a:r>
            <a:r>
              <a:rPr lang="en-US" dirty="0" err="1">
                <a:solidFill>
                  <a:srgbClr val="160C5C"/>
                </a:solidFill>
              </a:rPr>
              <a:t>endl</a:t>
            </a:r>
            <a:r>
              <a:rPr lang="en-US" dirty="0">
                <a:solidFill>
                  <a:srgbClr val="160C5C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}</a:t>
            </a:r>
          </a:p>
        </p:txBody>
      </p:sp>
      <p:pic>
        <p:nvPicPr>
          <p:cNvPr id="4" name="Content Placeholder 4" descr="A picture containing text, gear, metalware&#10;&#10;Description automatically generated">
            <a:extLst>
              <a:ext uri="{FF2B5EF4-FFF2-40B4-BE49-F238E27FC236}">
                <a16:creationId xmlns:a16="http://schemas.microsoft.com/office/drawing/2014/main" id="{EBF3C35F-F22F-03EA-C4BD-48D84FAF6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30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2BF3-3AD5-954D-F0E7-5D413AB4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C++: Concepts of Heap and Stack/2D Array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B5A7-AE10-E0CB-5FBA-4E152E869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Dynamic Memory Allocation (DMA): 2D Array</a:t>
            </a: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for(int </a:t>
            </a:r>
            <a:r>
              <a:rPr lang="en-US" dirty="0" err="1">
                <a:solidFill>
                  <a:srgbClr val="160C5C"/>
                </a:solidFill>
              </a:rPr>
              <a:t>i</a:t>
            </a:r>
            <a:r>
              <a:rPr lang="en-US" dirty="0">
                <a:solidFill>
                  <a:srgbClr val="160C5C"/>
                </a:solidFill>
              </a:rPr>
              <a:t>=0;i&lt;</a:t>
            </a:r>
            <a:r>
              <a:rPr lang="en-US" dirty="0" err="1">
                <a:solidFill>
                  <a:srgbClr val="160C5C"/>
                </a:solidFill>
              </a:rPr>
              <a:t>rows;i</a:t>
            </a:r>
            <a:r>
              <a:rPr lang="en-US" dirty="0">
                <a:solidFill>
                  <a:srgbClr val="160C5C"/>
                </a:solidFill>
              </a:rPr>
              <a:t>++)</a:t>
            </a: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delete [] </a:t>
            </a:r>
            <a:r>
              <a:rPr lang="en-US" dirty="0" err="1">
                <a:solidFill>
                  <a:srgbClr val="160C5C"/>
                </a:solidFill>
              </a:rPr>
              <a:t>ptr</a:t>
            </a:r>
            <a:r>
              <a:rPr lang="en-US" dirty="0">
                <a:solidFill>
                  <a:srgbClr val="160C5C"/>
                </a:solidFill>
              </a:rPr>
              <a:t>[</a:t>
            </a:r>
            <a:r>
              <a:rPr lang="en-US" dirty="0" err="1">
                <a:solidFill>
                  <a:srgbClr val="160C5C"/>
                </a:solidFill>
              </a:rPr>
              <a:t>i</a:t>
            </a:r>
            <a:r>
              <a:rPr lang="en-US" dirty="0">
                <a:solidFill>
                  <a:srgbClr val="160C5C"/>
                </a:solidFill>
              </a:rPr>
              <a:t>];</a:t>
            </a:r>
          </a:p>
          <a:p>
            <a:pPr marL="0" indent="0">
              <a:buNone/>
            </a:pPr>
            <a:endParaRPr lang="en-US" dirty="0">
              <a:solidFill>
                <a:srgbClr val="160C5C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delete [] </a:t>
            </a:r>
            <a:r>
              <a:rPr lang="en-US" dirty="0" err="1">
                <a:solidFill>
                  <a:srgbClr val="160C5C"/>
                </a:solidFill>
              </a:rPr>
              <a:t>ptr</a:t>
            </a:r>
            <a:r>
              <a:rPr lang="en-US" dirty="0">
                <a:solidFill>
                  <a:srgbClr val="160C5C"/>
                </a:solidFill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rgbClr val="160C5C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60C5C"/>
                </a:solidFill>
              </a:rPr>
              <a:t>return 0;</a:t>
            </a:r>
          </a:p>
        </p:txBody>
      </p:sp>
      <p:pic>
        <p:nvPicPr>
          <p:cNvPr id="4" name="Content Placeholder 4" descr="A picture containing text, gear, metalware&#10;&#10;Description automatically generated">
            <a:extLst>
              <a:ext uri="{FF2B5EF4-FFF2-40B4-BE49-F238E27FC236}">
                <a16:creationId xmlns:a16="http://schemas.microsoft.com/office/drawing/2014/main" id="{EBF3C35F-F22F-03EA-C4BD-48D84FAF6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079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2BF3-3AD5-954D-F0E7-5D413AB4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C++: Concepts of Heap and Stack/2D Array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B5A7-AE10-E0CB-5FBA-4E152E869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HEAP/STACK/STATIC, GLOBAL VARIABLES, CODE SECTION</a:t>
            </a:r>
          </a:p>
        </p:txBody>
      </p:sp>
      <p:pic>
        <p:nvPicPr>
          <p:cNvPr id="4" name="Content Placeholder 4" descr="A picture containing text, gear, metalware&#10;&#10;Description automatically generated">
            <a:extLst>
              <a:ext uri="{FF2B5EF4-FFF2-40B4-BE49-F238E27FC236}">
                <a16:creationId xmlns:a16="http://schemas.microsoft.com/office/drawing/2014/main" id="{EBF3C35F-F22F-03EA-C4BD-48D84FAF6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8914B6-265A-F4F6-3E6B-DEB0A3C88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683" y="2386089"/>
            <a:ext cx="8692117" cy="431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71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2BF3-3AD5-954D-F0E7-5D413AB4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C++: Concepts of Heap and Stack/2D Array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B5A7-AE10-E0CB-5FBA-4E152E869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STACK AND HEAP</a:t>
            </a:r>
          </a:p>
          <a:p>
            <a:pPr marL="0" indent="0" algn="just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00B0F0"/>
                </a:solidFill>
              </a:rPr>
              <a:t>The Stack: </a:t>
            </a:r>
            <a:r>
              <a:rPr lang="en-US" dirty="0"/>
              <a:t>All variables declared inside the function will take up memory from the stack.</a:t>
            </a:r>
          </a:p>
          <a:p>
            <a:pPr marL="0" indent="0" algn="just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00B0F0"/>
                </a:solidFill>
              </a:rPr>
              <a:t>The Heap: </a:t>
            </a:r>
            <a:r>
              <a:rPr lang="en-US" dirty="0"/>
              <a:t>This is unused memory of the program and can be used to allocate the memory dynamically when program runs.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4" name="Content Placeholder 4" descr="A picture containing text, gear, metalware&#10;&#10;Description automatically generated">
            <a:extLst>
              <a:ext uri="{FF2B5EF4-FFF2-40B4-BE49-F238E27FC236}">
                <a16:creationId xmlns:a16="http://schemas.microsoft.com/office/drawing/2014/main" id="{EBF3C35F-F22F-03EA-C4BD-48D84FAF6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77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2BF3-3AD5-954D-F0E7-5D413AB4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C++: Concepts of Heap and Stack/2D Array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B5A7-AE10-E0CB-5FBA-4E152E869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Jagged Array: Array of rows of different lengths</a:t>
            </a:r>
          </a:p>
          <a:p>
            <a:pPr marL="0" indent="0" algn="just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int rows;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/>
              <a:t>cin</a:t>
            </a:r>
            <a:r>
              <a:rPr lang="en-US" sz="2400" dirty="0"/>
              <a:t>&gt;&gt;rows;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int *</a:t>
            </a:r>
            <a:r>
              <a:rPr lang="en-US" sz="2400" dirty="0" err="1"/>
              <a:t>ptr</a:t>
            </a:r>
            <a:r>
              <a:rPr lang="en-US" sz="2400" dirty="0"/>
              <a:t>=new int[rows];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int **</a:t>
            </a:r>
            <a:r>
              <a:rPr lang="en-US" sz="2400" dirty="0" err="1"/>
              <a:t>jArray</a:t>
            </a:r>
            <a:r>
              <a:rPr lang="en-US" sz="2400" dirty="0"/>
              <a:t>=new int*[rows];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for(int </a:t>
            </a:r>
            <a:r>
              <a:rPr lang="en-US" sz="2400" dirty="0" err="1"/>
              <a:t>i</a:t>
            </a:r>
            <a:r>
              <a:rPr lang="en-US" sz="2400" dirty="0"/>
              <a:t>=0;i&lt;</a:t>
            </a:r>
            <a:r>
              <a:rPr lang="en-US" sz="2400" dirty="0" err="1"/>
              <a:t>rows;i</a:t>
            </a:r>
            <a:r>
              <a:rPr lang="en-US" sz="2400" dirty="0"/>
              <a:t>++){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cout&lt;&lt;"Enter number of column in row "&lt;&lt;</a:t>
            </a:r>
            <a:r>
              <a:rPr lang="en-US" sz="2400" dirty="0" err="1"/>
              <a:t>i</a:t>
            </a:r>
            <a:r>
              <a:rPr lang="en-US" sz="2400" dirty="0"/>
              <a:t>&lt;&lt;" : ";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/>
              <a:t>cin</a:t>
            </a:r>
            <a:r>
              <a:rPr lang="en-US" sz="2400" dirty="0"/>
              <a:t>&gt;&gt;</a:t>
            </a:r>
            <a:r>
              <a:rPr lang="en-US" sz="2400" dirty="0" err="1"/>
              <a:t>ptr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/>
              <a:t>jArray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]=new int[</a:t>
            </a:r>
            <a:r>
              <a:rPr lang="en-US" sz="2400" dirty="0" err="1"/>
              <a:t>ptr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]];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}</a:t>
            </a:r>
          </a:p>
        </p:txBody>
      </p:sp>
      <p:pic>
        <p:nvPicPr>
          <p:cNvPr id="4" name="Content Placeholder 4" descr="A picture containing text, gear, metalware&#10;&#10;Description automatically generated">
            <a:extLst>
              <a:ext uri="{FF2B5EF4-FFF2-40B4-BE49-F238E27FC236}">
                <a16:creationId xmlns:a16="http://schemas.microsoft.com/office/drawing/2014/main" id="{EBF3C35F-F22F-03EA-C4BD-48D84FAF6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AF4CC05-4CBB-1F0B-D937-57097C48F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357529"/>
              </p:ext>
            </p:extLst>
          </p:nvPr>
        </p:nvGraphicFramePr>
        <p:xfrm>
          <a:off x="7238507" y="2557800"/>
          <a:ext cx="2091924" cy="2005324"/>
        </p:xfrm>
        <a:graphic>
          <a:graphicData uri="http://schemas.openxmlformats.org/drawingml/2006/table">
            <a:tbl>
              <a:tblPr firstRow="1" bandRow="1"/>
              <a:tblGrid>
                <a:gridCol w="522981">
                  <a:extLst>
                    <a:ext uri="{9D8B030D-6E8A-4147-A177-3AD203B41FA5}">
                      <a16:colId xmlns:a16="http://schemas.microsoft.com/office/drawing/2014/main" val="1110406352"/>
                    </a:ext>
                  </a:extLst>
                </a:gridCol>
                <a:gridCol w="522981">
                  <a:extLst>
                    <a:ext uri="{9D8B030D-6E8A-4147-A177-3AD203B41FA5}">
                      <a16:colId xmlns:a16="http://schemas.microsoft.com/office/drawing/2014/main" val="2477094498"/>
                    </a:ext>
                  </a:extLst>
                </a:gridCol>
                <a:gridCol w="522981">
                  <a:extLst>
                    <a:ext uri="{9D8B030D-6E8A-4147-A177-3AD203B41FA5}">
                      <a16:colId xmlns:a16="http://schemas.microsoft.com/office/drawing/2014/main" val="3067059009"/>
                    </a:ext>
                  </a:extLst>
                </a:gridCol>
                <a:gridCol w="522981">
                  <a:extLst>
                    <a:ext uri="{9D8B030D-6E8A-4147-A177-3AD203B41FA5}">
                      <a16:colId xmlns:a16="http://schemas.microsoft.com/office/drawing/2014/main" val="307535993"/>
                    </a:ext>
                  </a:extLst>
                </a:gridCol>
              </a:tblGrid>
              <a:tr h="5013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M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9903883"/>
                  </a:ext>
                </a:extLst>
              </a:tr>
              <a:tr h="5013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6475159"/>
                  </a:ext>
                </a:extLst>
              </a:tr>
              <a:tr h="5013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4795209"/>
                  </a:ext>
                </a:extLst>
              </a:tr>
              <a:tr h="5013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UM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7426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538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2BF3-3AD5-954D-F0E7-5D413AB4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C++: Concepts of Heap and Stack/2D Array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B5A7-AE10-E0CB-5FBA-4E152E869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14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Jagged Array: Array of rows of different lengths</a:t>
            </a:r>
          </a:p>
          <a:p>
            <a:pPr marL="0" indent="0" algn="just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for(int </a:t>
            </a:r>
            <a:r>
              <a:rPr lang="en-US" sz="2400" dirty="0" err="1"/>
              <a:t>i</a:t>
            </a:r>
            <a:r>
              <a:rPr lang="en-US" sz="2400" dirty="0"/>
              <a:t>=0;i&lt;</a:t>
            </a:r>
            <a:r>
              <a:rPr lang="en-US" sz="2400" dirty="0" err="1"/>
              <a:t>rows;i</a:t>
            </a:r>
            <a:r>
              <a:rPr lang="en-US" sz="2400" dirty="0"/>
              <a:t>++)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for(int j=0;j&lt;</a:t>
            </a:r>
            <a:r>
              <a:rPr lang="en-US" sz="2400" dirty="0" err="1"/>
              <a:t>ptr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];</a:t>
            </a:r>
            <a:r>
              <a:rPr lang="en-US" sz="2400" dirty="0" err="1"/>
              <a:t>j++</a:t>
            </a:r>
            <a:r>
              <a:rPr lang="en-US" sz="2400" dirty="0"/>
              <a:t>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{cout&lt;&lt;"Row "&lt;&lt;</a:t>
            </a:r>
            <a:r>
              <a:rPr lang="en-US" sz="2400" dirty="0" err="1"/>
              <a:t>i</a:t>
            </a:r>
            <a:r>
              <a:rPr lang="en-US" sz="2400" dirty="0"/>
              <a:t>&lt;&lt;"  enter value "&lt;&lt;</a:t>
            </a:r>
            <a:r>
              <a:rPr lang="en-US" sz="2400" dirty="0" err="1"/>
              <a:t>i</a:t>
            </a:r>
            <a:r>
              <a:rPr lang="en-US" sz="2400" dirty="0"/>
              <a:t>*</a:t>
            </a:r>
            <a:r>
              <a:rPr lang="en-US" sz="2400" dirty="0" err="1"/>
              <a:t>ptr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]+j&lt;&lt;" : ";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/>
              <a:t>cin</a:t>
            </a:r>
            <a:r>
              <a:rPr lang="en-US" sz="2400" dirty="0"/>
              <a:t>&gt;&gt;</a:t>
            </a:r>
            <a:r>
              <a:rPr lang="en-US" sz="2400" dirty="0" err="1"/>
              <a:t>jArray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][j];}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for(int </a:t>
            </a:r>
            <a:r>
              <a:rPr lang="en-US" sz="2400" dirty="0" err="1"/>
              <a:t>i</a:t>
            </a:r>
            <a:r>
              <a:rPr lang="en-US" sz="2400" dirty="0"/>
              <a:t>=0;i&lt;</a:t>
            </a:r>
            <a:r>
              <a:rPr lang="en-US" sz="2400" dirty="0" err="1"/>
              <a:t>rows;i</a:t>
            </a:r>
            <a:r>
              <a:rPr lang="en-US" sz="2400" dirty="0"/>
              <a:t>++){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for(int j=0;j&lt;</a:t>
            </a:r>
            <a:r>
              <a:rPr lang="en-US" sz="2400" dirty="0" err="1"/>
              <a:t>ptr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];</a:t>
            </a:r>
            <a:r>
              <a:rPr lang="en-US" sz="2400" dirty="0" err="1"/>
              <a:t>j++</a:t>
            </a:r>
            <a:r>
              <a:rPr lang="en-US" sz="2400" dirty="0"/>
              <a:t>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cout&lt;&lt;</a:t>
            </a:r>
            <a:r>
              <a:rPr lang="en-US" sz="2400" dirty="0" err="1"/>
              <a:t>setw</a:t>
            </a:r>
            <a:r>
              <a:rPr lang="en-US" sz="2400" dirty="0"/>
              <a:t>(3)&lt;&lt;</a:t>
            </a:r>
            <a:r>
              <a:rPr lang="en-US" sz="2400" dirty="0" err="1"/>
              <a:t>jArray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][j];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cout&lt;&lt;</a:t>
            </a:r>
            <a:r>
              <a:rPr lang="en-US" sz="2400" dirty="0" err="1"/>
              <a:t>endl</a:t>
            </a:r>
            <a:r>
              <a:rPr lang="en-US" sz="2400" dirty="0"/>
              <a:t>;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/>
              <a:t>}</a:t>
            </a:r>
            <a:endParaRPr lang="en-US" sz="2400" dirty="0"/>
          </a:p>
        </p:txBody>
      </p:sp>
      <p:pic>
        <p:nvPicPr>
          <p:cNvPr id="4" name="Content Placeholder 4" descr="A picture containing text, gear, metalware&#10;&#10;Description automatically generated">
            <a:extLst>
              <a:ext uri="{FF2B5EF4-FFF2-40B4-BE49-F238E27FC236}">
                <a16:creationId xmlns:a16="http://schemas.microsoft.com/office/drawing/2014/main" id="{EBF3C35F-F22F-03EA-C4BD-48D84FAF6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76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0542F-7E9E-E3D1-7075-A58C6A7DF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Have a Nice Day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-up of a sign&#10;&#10;Description automatically generated with medium confidence">
            <a:extLst>
              <a:ext uri="{FF2B5EF4-FFF2-40B4-BE49-F238E27FC236}">
                <a16:creationId xmlns:a16="http://schemas.microsoft.com/office/drawing/2014/main" id="{DBCBCF13-76A1-075A-7B7F-04DEE6E07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160716"/>
            <a:ext cx="7214616" cy="4509135"/>
          </a:xfrm>
          <a:prstGeom prst="rect">
            <a:avLst/>
          </a:prstGeom>
        </p:spPr>
      </p:pic>
      <p:pic>
        <p:nvPicPr>
          <p:cNvPr id="4" name="Content Placeholder 4" descr="A picture containing text, gear, metalware&#10;&#10;Description automatically generated">
            <a:extLst>
              <a:ext uri="{FF2B5EF4-FFF2-40B4-BE49-F238E27FC236}">
                <a16:creationId xmlns:a16="http://schemas.microsoft.com/office/drawing/2014/main" id="{37EEEA87-AE0D-8CD0-3E4F-0BCA43B79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79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3174</TotalTime>
  <Words>658</Words>
  <Application>Microsoft Office PowerPoint</Application>
  <PresentationFormat>Widescreen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Object Oriented Programming</vt:lpstr>
      <vt:lpstr>  C++: Basics</vt:lpstr>
      <vt:lpstr>  C++: Concepts of Heap and Stack/2D Array</vt:lpstr>
      <vt:lpstr>  C++: Concepts of Heap and Stack/2D Array</vt:lpstr>
      <vt:lpstr>  C++: Concepts of Heap and Stack/2D Array</vt:lpstr>
      <vt:lpstr>  C++: Concepts of Heap and Stack/2D Array</vt:lpstr>
      <vt:lpstr>  C++: Concepts of Heap and Stack/2D Array</vt:lpstr>
      <vt:lpstr>  C++: Concepts of Heap and Stack/2D Array</vt:lpstr>
      <vt:lpstr>  C++: Concepts of Heap and Stack/2D Array</vt:lpstr>
      <vt:lpstr>  C++: Concepts of Heap and Stack/2D Array</vt:lpstr>
      <vt:lpstr> Have a Nice 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Imran Babar</dc:creator>
  <cp:lastModifiedBy>Nabeela Ashraf</cp:lastModifiedBy>
  <cp:revision>601</cp:revision>
  <dcterms:created xsi:type="dcterms:W3CDTF">2022-08-19T13:52:09Z</dcterms:created>
  <dcterms:modified xsi:type="dcterms:W3CDTF">2025-10-19T16:43:18Z</dcterms:modified>
</cp:coreProperties>
</file>